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" charset="1" panose="02000000000000000000"/>
      <p:regular r:id="rId16"/>
    </p:embeddedFont>
    <p:embeddedFont>
      <p:font typeface="Roboto Bold" charset="1" panose="02000000000000000000"/>
      <p:regular r:id="rId17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VAHYXXMrkLQ.mp4" Type="http://schemas.openxmlformats.org/officeDocument/2006/relationships/video"/><Relationship Id="rId4" Target="../media/VAHYXXMrkLQ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82912" y="-263876"/>
            <a:ext cx="9522176" cy="9522176"/>
          </a:xfrm>
          <a:custGeom>
            <a:avLst/>
            <a:gdLst/>
            <a:ahLst/>
            <a:cxnLst/>
            <a:rect r="r" b="b" t="t" l="l"/>
            <a:pathLst>
              <a:path h="9522176" w="9522176">
                <a:moveTo>
                  <a:pt x="0" y="0"/>
                </a:moveTo>
                <a:lnTo>
                  <a:pt x="9522176" y="0"/>
                </a:lnTo>
                <a:lnTo>
                  <a:pt x="9522176" y="9522176"/>
                </a:lnTo>
                <a:lnTo>
                  <a:pt x="0" y="9522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67012" y="6987037"/>
            <a:ext cx="12753975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A9A6A2"/>
                </a:solidFill>
                <a:latin typeface="Roboto"/>
                <a:ea typeface="Roboto"/>
                <a:cs typeface="Roboto"/>
                <a:sym typeface="Roboto"/>
              </a:rPr>
              <a:t>Um agente que transforma o que você quer cozinhar em um </a:t>
            </a:r>
          </a:p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A9A6A2"/>
                </a:solidFill>
                <a:latin typeface="Roboto"/>
                <a:ea typeface="Roboto"/>
                <a:cs typeface="Roboto"/>
                <a:sym typeface="Roboto"/>
              </a:rPr>
              <a:t>pedido de mercado no iFood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624880"/>
            <a:ext cx="7696200" cy="2518172"/>
            <a:chOff x="0" y="0"/>
            <a:chExt cx="10261600" cy="3357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61600" cy="3357626"/>
            </a:xfrm>
            <a:custGeom>
              <a:avLst/>
              <a:gdLst/>
              <a:ahLst/>
              <a:cxnLst/>
              <a:rect r="r" b="b" t="t" l="l"/>
              <a:pathLst>
                <a:path h="3357626" w="10261600">
                  <a:moveTo>
                    <a:pt x="0" y="243205"/>
                  </a:moveTo>
                  <a:cubicBezTo>
                    <a:pt x="0" y="108839"/>
                    <a:pt x="108839" y="0"/>
                    <a:pt x="243205" y="0"/>
                  </a:cubicBezTo>
                  <a:lnTo>
                    <a:pt x="10018395" y="0"/>
                  </a:lnTo>
                  <a:cubicBezTo>
                    <a:pt x="10152761" y="0"/>
                    <a:pt x="10261600" y="108839"/>
                    <a:pt x="10261600" y="243205"/>
                  </a:cubicBezTo>
                  <a:lnTo>
                    <a:pt x="10261600" y="3114421"/>
                  </a:lnTo>
                  <a:cubicBezTo>
                    <a:pt x="10261600" y="3248660"/>
                    <a:pt x="10152761" y="3357626"/>
                    <a:pt x="10018395" y="3357626"/>
                  </a:cubicBezTo>
                  <a:lnTo>
                    <a:pt x="243205" y="3357626"/>
                  </a:lnTo>
                  <a:cubicBezTo>
                    <a:pt x="108839" y="3357499"/>
                    <a:pt x="0" y="3248660"/>
                    <a:pt x="0" y="311442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C1C1F">
                    <a:alpha val="100000"/>
                  </a:srgbClr>
                </a:gs>
                <a:gs pos="100000">
                  <a:srgbClr val="241316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9B1C2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5371652"/>
            <a:ext cx="7696200" cy="3924748"/>
            <a:chOff x="0" y="0"/>
            <a:chExt cx="10261600" cy="52329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61600" cy="5232908"/>
            </a:xfrm>
            <a:custGeom>
              <a:avLst/>
              <a:gdLst/>
              <a:ahLst/>
              <a:cxnLst/>
              <a:rect r="r" b="b" t="t" l="l"/>
              <a:pathLst>
                <a:path h="5232908" w="10261600">
                  <a:moveTo>
                    <a:pt x="0" y="242443"/>
                  </a:moveTo>
                  <a:cubicBezTo>
                    <a:pt x="0" y="108585"/>
                    <a:pt x="108585" y="0"/>
                    <a:pt x="242443" y="0"/>
                  </a:cubicBezTo>
                  <a:lnTo>
                    <a:pt x="10019157" y="0"/>
                  </a:lnTo>
                  <a:cubicBezTo>
                    <a:pt x="10153015" y="0"/>
                    <a:pt x="10261600" y="108585"/>
                    <a:pt x="10261600" y="242443"/>
                  </a:cubicBezTo>
                  <a:lnTo>
                    <a:pt x="10261600" y="4990465"/>
                  </a:lnTo>
                  <a:cubicBezTo>
                    <a:pt x="10261600" y="5124450"/>
                    <a:pt x="10153015" y="5232908"/>
                    <a:pt x="10019157" y="5232908"/>
                  </a:cubicBezTo>
                  <a:lnTo>
                    <a:pt x="242443" y="5232908"/>
                  </a:lnTo>
                  <a:cubicBezTo>
                    <a:pt x="108585" y="5233035"/>
                    <a:pt x="0" y="5124450"/>
                    <a:pt x="0" y="4990465"/>
                  </a:cubicBezTo>
                  <a:close/>
                </a:path>
              </a:pathLst>
            </a:custGeom>
            <a:blipFill>
              <a:blip r:embed="rId2"/>
              <a:stretch>
                <a:fillRect l="0" t="-31342" r="0" b="-108073"/>
              </a:stretch>
            </a:blipFill>
            <a:ln w="19050" cap="sq">
              <a:solidFill>
                <a:srgbClr val="55555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372600" y="2624880"/>
            <a:ext cx="3562350" cy="4480770"/>
            <a:chOff x="0" y="0"/>
            <a:chExt cx="4749800" cy="59743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49800" cy="5974334"/>
            </a:xfrm>
            <a:custGeom>
              <a:avLst/>
              <a:gdLst/>
              <a:ahLst/>
              <a:cxnLst/>
              <a:rect r="r" b="b" t="t" l="l"/>
              <a:pathLst>
                <a:path h="5974334" w="474980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4501515" y="0"/>
                  </a:lnTo>
                  <a:cubicBezTo>
                    <a:pt x="4638675" y="0"/>
                    <a:pt x="4749800" y="111125"/>
                    <a:pt x="4749800" y="248285"/>
                  </a:cubicBezTo>
                  <a:lnTo>
                    <a:pt x="4749800" y="5726049"/>
                  </a:lnTo>
                  <a:cubicBezTo>
                    <a:pt x="4749800" y="5863209"/>
                    <a:pt x="4638675" y="5974334"/>
                    <a:pt x="4501515" y="5974334"/>
                  </a:cubicBezTo>
                  <a:lnTo>
                    <a:pt x="248285" y="5974334"/>
                  </a:lnTo>
                  <a:cubicBezTo>
                    <a:pt x="111125" y="5974334"/>
                    <a:pt x="0" y="5863209"/>
                    <a:pt x="0" y="5726049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696575" y="3952723"/>
            <a:ext cx="914400" cy="914400"/>
            <a:chOff x="0" y="0"/>
            <a:chExt cx="12192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A2A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68025" y="4124173"/>
            <a:ext cx="571500" cy="571500"/>
            <a:chOff x="0" y="0"/>
            <a:chExt cx="762000" cy="762000"/>
          </a:xfrm>
        </p:grpSpPr>
        <p:sp>
          <p:nvSpPr>
            <p:cNvPr name="Freeform 11" id="11" descr="Panela com coração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87350" y="4798514"/>
            <a:ext cx="266700" cy="133350"/>
            <a:chOff x="0" y="0"/>
            <a:chExt cx="355600" cy="177800"/>
          </a:xfrm>
        </p:grpSpPr>
        <p:sp>
          <p:nvSpPr>
            <p:cNvPr name="Freeform 13" id="13" descr="arrow-right"/>
            <p:cNvSpPr/>
            <p:nvPr/>
          </p:nvSpPr>
          <p:spPr>
            <a:xfrm flipH="false" flipV="false" rot="0">
              <a:off x="0" y="0"/>
              <a:ext cx="355600" cy="177800"/>
            </a:xfrm>
            <a:custGeom>
              <a:avLst/>
              <a:gdLst/>
              <a:ahLst/>
              <a:cxnLst/>
              <a:rect r="r" b="b" t="t" l="l"/>
              <a:pathLst>
                <a:path h="1778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06450" y="2624880"/>
            <a:ext cx="3562350" cy="4480770"/>
            <a:chOff x="0" y="0"/>
            <a:chExt cx="4749800" cy="59743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49800" cy="5974334"/>
            </a:xfrm>
            <a:custGeom>
              <a:avLst/>
              <a:gdLst/>
              <a:ahLst/>
              <a:cxnLst/>
              <a:rect r="r" b="b" t="t" l="l"/>
              <a:pathLst>
                <a:path h="5974334" w="4749800">
                  <a:moveTo>
                    <a:pt x="0" y="248285"/>
                  </a:moveTo>
                  <a:cubicBezTo>
                    <a:pt x="0" y="111125"/>
                    <a:pt x="111125" y="0"/>
                    <a:pt x="248285" y="0"/>
                  </a:cubicBezTo>
                  <a:lnTo>
                    <a:pt x="4501515" y="0"/>
                  </a:lnTo>
                  <a:cubicBezTo>
                    <a:pt x="4638675" y="0"/>
                    <a:pt x="4749800" y="111125"/>
                    <a:pt x="4749800" y="248285"/>
                  </a:cubicBezTo>
                  <a:lnTo>
                    <a:pt x="4749800" y="5726049"/>
                  </a:lnTo>
                  <a:cubicBezTo>
                    <a:pt x="4749800" y="5863209"/>
                    <a:pt x="4638675" y="5974334"/>
                    <a:pt x="4501515" y="5974334"/>
                  </a:cubicBezTo>
                  <a:lnTo>
                    <a:pt x="248285" y="5974334"/>
                  </a:lnTo>
                  <a:cubicBezTo>
                    <a:pt x="111125" y="5974334"/>
                    <a:pt x="0" y="5863209"/>
                    <a:pt x="0" y="5726049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830425" y="3952723"/>
            <a:ext cx="914400" cy="914400"/>
            <a:chOff x="0" y="0"/>
            <a:chExt cx="121920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A2A2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01875" y="4124173"/>
            <a:ext cx="571500" cy="571500"/>
            <a:chOff x="0" y="0"/>
            <a:chExt cx="762000" cy="762000"/>
          </a:xfrm>
        </p:grpSpPr>
        <p:sp>
          <p:nvSpPr>
            <p:cNvPr name="Freeform 19" id="19" descr="Ponto de interrogação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154025" y="7334250"/>
            <a:ext cx="133350" cy="266700"/>
            <a:chOff x="0" y="0"/>
            <a:chExt cx="177800" cy="355600"/>
          </a:xfrm>
        </p:grpSpPr>
        <p:sp>
          <p:nvSpPr>
            <p:cNvPr name="Freeform 21" id="21" descr="arrow-down"/>
            <p:cNvSpPr/>
            <p:nvPr/>
          </p:nvSpPr>
          <p:spPr>
            <a:xfrm flipH="false" flipV="false" rot="0">
              <a:off x="0" y="0"/>
              <a:ext cx="177800" cy="355600"/>
            </a:xfrm>
            <a:custGeom>
              <a:avLst/>
              <a:gdLst/>
              <a:ahLst/>
              <a:cxnLst/>
              <a:rect r="r" b="b" t="t" l="l"/>
              <a:pathLst>
                <a:path h="3556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72600" y="7829550"/>
            <a:ext cx="7696200" cy="1466850"/>
            <a:chOff x="0" y="0"/>
            <a:chExt cx="10261600" cy="1955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61600" cy="1955800"/>
            </a:xfrm>
            <a:custGeom>
              <a:avLst/>
              <a:gdLst/>
              <a:ahLst/>
              <a:cxnLst/>
              <a:rect r="r" b="b" t="t" l="l"/>
              <a:pathLst>
                <a:path h="1955800" w="10261600">
                  <a:moveTo>
                    <a:pt x="0" y="249301"/>
                  </a:moveTo>
                  <a:cubicBezTo>
                    <a:pt x="0" y="111633"/>
                    <a:pt x="111633" y="0"/>
                    <a:pt x="249301" y="0"/>
                  </a:cubicBezTo>
                  <a:lnTo>
                    <a:pt x="10012299" y="0"/>
                  </a:lnTo>
                  <a:cubicBezTo>
                    <a:pt x="10149967" y="0"/>
                    <a:pt x="10261600" y="111633"/>
                    <a:pt x="10261600" y="249301"/>
                  </a:cubicBezTo>
                  <a:lnTo>
                    <a:pt x="10261600" y="1706499"/>
                  </a:lnTo>
                  <a:cubicBezTo>
                    <a:pt x="10261600" y="1844167"/>
                    <a:pt x="10149967" y="1955800"/>
                    <a:pt x="10012299" y="1955800"/>
                  </a:cubicBezTo>
                  <a:lnTo>
                    <a:pt x="249301" y="1955800"/>
                  </a:lnTo>
                  <a:cubicBezTo>
                    <a:pt x="111633" y="1955800"/>
                    <a:pt x="0" y="1844167"/>
                    <a:pt x="0" y="170649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F16">
                    <a:alpha val="100000"/>
                  </a:srgbClr>
                </a:gs>
                <a:gs pos="100000">
                  <a:srgbClr val="1C1517">
                    <a:alpha val="100000"/>
                  </a:srgbClr>
                </a:gs>
              </a:gsLst>
              <a:lin ang="0"/>
            </a:gradFill>
            <a:ln w="9525" cap="sq">
              <a:solidFill>
                <a:srgbClr val="9B1C2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725025" y="8105775"/>
            <a:ext cx="914400" cy="914400"/>
            <a:chOff x="0" y="0"/>
            <a:chExt cx="12192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934575" y="8315325"/>
            <a:ext cx="495300" cy="495300"/>
            <a:chOff x="0" y="0"/>
            <a:chExt cx="660400" cy="660400"/>
          </a:xfrm>
        </p:grpSpPr>
        <p:sp>
          <p:nvSpPr>
            <p:cNvPr name="Freeform 27" id="27" descr="Chat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19200" y="942975"/>
            <a:ext cx="10047589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CONHEÇA A DONA TERESINHA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200" y="1499149"/>
            <a:ext cx="11705930" cy="74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Ela ama cozinhar para as netas.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9250" y="2929680"/>
            <a:ext cx="7102983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Ela usa o WhatsApp muito bem, mas acha os apps de mercado confusos.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9250" y="3847652"/>
            <a:ext cx="710298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true">
                <a:solidFill>
                  <a:srgbClr val="FF5A6E"/>
                </a:solidFill>
                <a:latin typeface="Roboto Bold"/>
                <a:ea typeface="Roboto Bold"/>
                <a:cs typeface="Roboto Bold"/>
                <a:sym typeface="Roboto Bold"/>
              </a:rPr>
              <a:t>Hoje, o iFood perde essa cliente para o supermercado físico.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03676" y="5009998"/>
            <a:ext cx="3100197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5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receita de família e uma sobremesa nova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37526" y="5009998"/>
            <a:ext cx="3100197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5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Quanto comprar? </a:t>
            </a:r>
          </a:p>
          <a:p>
            <a:pPr algn="ctr">
              <a:lnSpc>
                <a:spcPts val="3509"/>
              </a:lnSpc>
            </a:pPr>
            <a:r>
              <a:rPr lang="en-US" sz="25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que já tem </a:t>
            </a:r>
          </a:p>
          <a:p>
            <a:pPr algn="ctr">
              <a:lnSpc>
                <a:spcPts val="3509"/>
              </a:lnSpc>
            </a:pPr>
            <a:r>
              <a:rPr lang="en-US" sz="25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 casa?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906125" y="8103984"/>
            <a:ext cx="5984558" cy="86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64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Ela só conversa.</a:t>
            </a:r>
          </a:p>
          <a:p>
            <a:pPr algn="l">
              <a:lnSpc>
                <a:spcPts val="3444"/>
              </a:lnSpc>
            </a:pPr>
            <a:r>
              <a:rPr lang="en-US" sz="2649" b="true">
                <a:solidFill>
                  <a:srgbClr val="FF5A6E"/>
                </a:solidFill>
                <a:latin typeface="Roboto Bold"/>
                <a:ea typeface="Roboto Bold"/>
                <a:cs typeface="Roboto Bold"/>
                <a:sym typeface="Roboto Bold"/>
              </a:rPr>
              <a:t>As compras chegam em casa.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596848" y="1182962"/>
            <a:ext cx="3471952" cy="865794"/>
            <a:chOff x="0" y="0"/>
            <a:chExt cx="2973781" cy="74156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73832" cy="741680"/>
            </a:xfrm>
            <a:custGeom>
              <a:avLst/>
              <a:gdLst/>
              <a:ahLst/>
              <a:cxnLst/>
              <a:rect r="r" b="b" t="t" l="l"/>
              <a:pathLst>
                <a:path h="741680" w="2973832">
                  <a:moveTo>
                    <a:pt x="0" y="370840"/>
                  </a:moveTo>
                  <a:cubicBezTo>
                    <a:pt x="0" y="165989"/>
                    <a:pt x="165989" y="0"/>
                    <a:pt x="370840" y="0"/>
                  </a:cubicBezTo>
                  <a:lnTo>
                    <a:pt x="2602992" y="0"/>
                  </a:lnTo>
                  <a:cubicBezTo>
                    <a:pt x="2807716" y="0"/>
                    <a:pt x="2973832" y="165989"/>
                    <a:pt x="2973832" y="370840"/>
                  </a:cubicBezTo>
                  <a:cubicBezTo>
                    <a:pt x="2973832" y="575691"/>
                    <a:pt x="2807843" y="741680"/>
                    <a:pt x="2602992" y="741680"/>
                  </a:cubicBezTo>
                  <a:lnTo>
                    <a:pt x="370840" y="741680"/>
                  </a:lnTo>
                  <a:cubicBezTo>
                    <a:pt x="165989" y="741553"/>
                    <a:pt x="0" y="575564"/>
                    <a:pt x="0" y="370840"/>
                  </a:cubicBezTo>
                  <a:close/>
                </a:path>
              </a:pathLst>
            </a:custGeom>
            <a:solidFill>
              <a:srgbClr val="2A0F14"/>
            </a:solidFill>
            <a:ln w="9525" cap="sq">
              <a:solidFill>
                <a:srgbClr val="7A1A26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973781" cy="798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  <a:r>
                <a:rPr lang="en-US" sz="2349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Domingo</a:t>
              </a:r>
              <a:r>
                <a:rPr lang="en-US" sz="2349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, 16h00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19175"/>
            <a:ext cx="16325088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01 · PROPOSTA DE NEGÓCIO — O PROBLEMA ESCOLHIDO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51549"/>
            <a:ext cx="14716125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Para além de Teresinha, cozinhar em casa tem um trabalho invisível antes do primeiro clique</a:t>
            </a:r>
          </a:p>
        </p:txBody>
      </p:sp>
      <p:sp>
        <p:nvSpPr>
          <p:cNvPr name="AutoShape 4" id="4"/>
          <p:cNvSpPr/>
          <p:nvPr/>
        </p:nvSpPr>
        <p:spPr>
          <a:xfrm rot="3720">
            <a:off x="1214438" y="5209880"/>
            <a:ext cx="8813606" cy="0"/>
          </a:xfrm>
          <a:prstGeom prst="line">
            <a:avLst/>
          </a:prstGeom>
          <a:ln cap="rnd" w="9525">
            <a:solidFill>
              <a:srgbClr val="2A2A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19200" y="4371680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81200" y="4474073"/>
            <a:ext cx="8283340" cy="44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Escolher e escalar a receita para o número de pessoas</a:t>
            </a:r>
          </a:p>
        </p:txBody>
      </p:sp>
      <p:sp>
        <p:nvSpPr>
          <p:cNvPr name="AutoShape 7" id="7"/>
          <p:cNvSpPr/>
          <p:nvPr/>
        </p:nvSpPr>
        <p:spPr>
          <a:xfrm rot="3720">
            <a:off x="1214438" y="6448130"/>
            <a:ext cx="8813606" cy="0"/>
          </a:xfrm>
          <a:prstGeom prst="line">
            <a:avLst/>
          </a:prstGeom>
          <a:ln cap="rnd" w="9525">
            <a:solidFill>
              <a:srgbClr val="2A2A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19200" y="5490867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81200" y="5400380"/>
            <a:ext cx="8283340" cy="89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Definir os ingredientes: tirar o que fere alergias e restrições, descontar o que já tem na despensa</a:t>
            </a:r>
          </a:p>
        </p:txBody>
      </p:sp>
      <p:sp>
        <p:nvSpPr>
          <p:cNvPr name="AutoShape 10" id="10"/>
          <p:cNvSpPr/>
          <p:nvPr/>
        </p:nvSpPr>
        <p:spPr>
          <a:xfrm rot="3720">
            <a:off x="1214438" y="7448255"/>
            <a:ext cx="8813606" cy="0"/>
          </a:xfrm>
          <a:prstGeom prst="line">
            <a:avLst/>
          </a:prstGeom>
          <a:ln cap="rnd" w="9525">
            <a:solidFill>
              <a:srgbClr val="2A2A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9200" y="6610055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81200" y="6712448"/>
            <a:ext cx="8283340" cy="44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Procurar cada ingrediente em vários mercados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" y="7610180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1200" y="7712573"/>
            <a:ext cx="8283340" cy="44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Comparar, montar o carrinho e pagar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632872" y="4838405"/>
            <a:ext cx="6435928" cy="2990850"/>
            <a:chOff x="0" y="0"/>
            <a:chExt cx="8581238" cy="3987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81263" cy="3987800"/>
            </a:xfrm>
            <a:custGeom>
              <a:avLst/>
              <a:gdLst/>
              <a:ahLst/>
              <a:cxnLst/>
              <a:rect r="r" b="b" t="t" l="l"/>
              <a:pathLst>
                <a:path h="3987800" w="8581263">
                  <a:moveTo>
                    <a:pt x="0" y="299466"/>
                  </a:moveTo>
                  <a:cubicBezTo>
                    <a:pt x="0" y="133985"/>
                    <a:pt x="133985" y="0"/>
                    <a:pt x="299466" y="0"/>
                  </a:cubicBezTo>
                  <a:lnTo>
                    <a:pt x="8281797" y="0"/>
                  </a:lnTo>
                  <a:cubicBezTo>
                    <a:pt x="8447151" y="0"/>
                    <a:pt x="8581263" y="133985"/>
                    <a:pt x="8581263" y="299466"/>
                  </a:cubicBezTo>
                  <a:lnTo>
                    <a:pt x="8581263" y="3688334"/>
                  </a:lnTo>
                  <a:cubicBezTo>
                    <a:pt x="8581263" y="3853688"/>
                    <a:pt x="8447278" y="3987800"/>
                    <a:pt x="8281797" y="3987800"/>
                  </a:cubicBezTo>
                  <a:lnTo>
                    <a:pt x="299466" y="3987800"/>
                  </a:lnTo>
                  <a:cubicBezTo>
                    <a:pt x="133985" y="3987800"/>
                    <a:pt x="0" y="3853815"/>
                    <a:pt x="0" y="368833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C1216">
                    <a:alpha val="100000"/>
                  </a:srgbClr>
                </a:gs>
                <a:gs pos="100000">
                  <a:srgbClr val="1C1517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9B1C2C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099597" y="5276555"/>
            <a:ext cx="566754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Cada etapa manual é um motivo para desistir do pedido.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99597" y="6495755"/>
            <a:ext cx="5667546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FAF7F5"/>
                </a:solidFill>
                <a:latin typeface="Roboto"/>
                <a:ea typeface="Roboto"/>
                <a:cs typeface="Roboto"/>
                <a:sym typeface="Roboto"/>
              </a:rPr>
              <a:t>E a vontade de cozinhar sai do app — vai para o caderno, a calculadora e o mercado físico.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9200" y="9195492"/>
            <a:ext cx="1591275" cy="472383"/>
            <a:chOff x="0" y="0"/>
            <a:chExt cx="2121700" cy="6298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1789" cy="629920"/>
            </a:xfrm>
            <a:custGeom>
              <a:avLst/>
              <a:gdLst/>
              <a:ahLst/>
              <a:cxnLst/>
              <a:rect r="r" b="b" t="t" l="l"/>
              <a:pathLst>
                <a:path h="629920" w="2121789">
                  <a:moveTo>
                    <a:pt x="0" y="314960"/>
                  </a:moveTo>
                  <a:cubicBezTo>
                    <a:pt x="0" y="140970"/>
                    <a:pt x="140970" y="0"/>
                    <a:pt x="314960" y="0"/>
                  </a:cubicBezTo>
                  <a:lnTo>
                    <a:pt x="1806829" y="0"/>
                  </a:lnTo>
                  <a:cubicBezTo>
                    <a:pt x="1980692" y="0"/>
                    <a:pt x="2121789" y="140970"/>
                    <a:pt x="2121789" y="314960"/>
                  </a:cubicBezTo>
                  <a:cubicBezTo>
                    <a:pt x="2121789" y="488950"/>
                    <a:pt x="1980819" y="629920"/>
                    <a:pt x="1806829" y="629920"/>
                  </a:cubicBezTo>
                  <a:lnTo>
                    <a:pt x="314960" y="629920"/>
                  </a:lnTo>
                  <a:cubicBezTo>
                    <a:pt x="140970" y="629793"/>
                    <a:pt x="0" y="488823"/>
                    <a:pt x="0" y="3149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121700" cy="67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AF7F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 Negócio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924775" y="9185967"/>
            <a:ext cx="1586065" cy="491433"/>
            <a:chOff x="0" y="0"/>
            <a:chExt cx="2114753" cy="6552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148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148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87144" y="0"/>
                  </a:lnTo>
                  <a:cubicBezTo>
                    <a:pt x="1968119" y="0"/>
                    <a:pt x="2114804" y="146685"/>
                    <a:pt x="2114804" y="327660"/>
                  </a:cubicBezTo>
                  <a:cubicBezTo>
                    <a:pt x="2114804" y="508635"/>
                    <a:pt x="1968119" y="655320"/>
                    <a:pt x="17871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1147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 Solução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25130" y="9185967"/>
            <a:ext cx="1562100" cy="491433"/>
            <a:chOff x="0" y="0"/>
            <a:chExt cx="2082800" cy="6552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2800" cy="655320"/>
            </a:xfrm>
            <a:custGeom>
              <a:avLst/>
              <a:gdLst/>
              <a:ahLst/>
              <a:cxnLst/>
              <a:rect r="r" b="b" t="t" l="l"/>
              <a:pathLst>
                <a:path h="655320" w="2082800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55140" y="0"/>
                  </a:lnTo>
                  <a:cubicBezTo>
                    <a:pt x="1936115" y="0"/>
                    <a:pt x="2082800" y="146685"/>
                    <a:pt x="2082800" y="327660"/>
                  </a:cubicBezTo>
                  <a:cubicBezTo>
                    <a:pt x="2082800" y="508635"/>
                    <a:pt x="1936115" y="655320"/>
                    <a:pt x="1755140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828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 Técnico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01530" y="9185967"/>
            <a:ext cx="1685630" cy="491433"/>
            <a:chOff x="0" y="0"/>
            <a:chExt cx="2247506" cy="6552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47519" cy="655320"/>
            </a:xfrm>
            <a:custGeom>
              <a:avLst/>
              <a:gdLst/>
              <a:ahLst/>
              <a:cxnLst/>
              <a:rect r="r" b="b" t="t" l="l"/>
              <a:pathLst>
                <a:path h="655320" w="224751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919859" y="0"/>
                  </a:lnTo>
                  <a:cubicBezTo>
                    <a:pt x="2100834" y="0"/>
                    <a:pt x="2247519" y="146685"/>
                    <a:pt x="2247519" y="327660"/>
                  </a:cubicBezTo>
                  <a:cubicBezTo>
                    <a:pt x="2247519" y="508635"/>
                    <a:pt x="2100834" y="655320"/>
                    <a:pt x="191985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247506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 Interface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01460" y="9185967"/>
            <a:ext cx="1595590" cy="491433"/>
            <a:chOff x="0" y="0"/>
            <a:chExt cx="2127453" cy="6552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75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275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99844" y="0"/>
                  </a:lnTo>
                  <a:cubicBezTo>
                    <a:pt x="1980819" y="0"/>
                    <a:pt x="2127504" y="146685"/>
                    <a:pt x="2127504" y="327660"/>
                  </a:cubicBezTo>
                  <a:cubicBezTo>
                    <a:pt x="2127504" y="508635"/>
                    <a:pt x="1980819" y="655320"/>
                    <a:pt x="17998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1274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 Impacto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11350" y="9185967"/>
            <a:ext cx="2302078" cy="491433"/>
            <a:chOff x="0" y="0"/>
            <a:chExt cx="3069438" cy="6552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69463" cy="655320"/>
            </a:xfrm>
            <a:custGeom>
              <a:avLst/>
              <a:gdLst/>
              <a:ahLst/>
              <a:cxnLst/>
              <a:rect r="r" b="b" t="t" l="l"/>
              <a:pathLst>
                <a:path h="655320" w="3069463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2741803" y="0"/>
                  </a:lnTo>
                  <a:cubicBezTo>
                    <a:pt x="2922778" y="0"/>
                    <a:pt x="3069463" y="146685"/>
                    <a:pt x="3069463" y="327660"/>
                  </a:cubicBezTo>
                  <a:cubicBezTo>
                    <a:pt x="3069463" y="508635"/>
                    <a:pt x="2922778" y="655320"/>
                    <a:pt x="2741803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3069438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 Feedback MCP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06188" y="2192017"/>
            <a:ext cx="5675633" cy="568961"/>
            <a:chOff x="0" y="0"/>
            <a:chExt cx="7567511" cy="7586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67549" cy="758576"/>
            </a:xfrm>
            <a:custGeom>
              <a:avLst/>
              <a:gdLst/>
              <a:ahLst/>
              <a:cxnLst/>
              <a:rect r="r" b="b" t="t" l="l"/>
              <a:pathLst>
                <a:path h="758576" w="7567549">
                  <a:moveTo>
                    <a:pt x="0" y="379351"/>
                  </a:moveTo>
                  <a:cubicBezTo>
                    <a:pt x="0" y="169800"/>
                    <a:pt x="169799" y="0"/>
                    <a:pt x="379349" y="0"/>
                  </a:cubicBezTo>
                  <a:lnTo>
                    <a:pt x="7188200" y="0"/>
                  </a:lnTo>
                  <a:cubicBezTo>
                    <a:pt x="7397623" y="0"/>
                    <a:pt x="7567549" y="169800"/>
                    <a:pt x="7567549" y="379351"/>
                  </a:cubicBezTo>
                  <a:cubicBezTo>
                    <a:pt x="7567549" y="588903"/>
                    <a:pt x="7397623" y="758576"/>
                    <a:pt x="7188200" y="758576"/>
                  </a:cubicBezTo>
                  <a:lnTo>
                    <a:pt x="379349" y="758576"/>
                  </a:lnTo>
                  <a:cubicBezTo>
                    <a:pt x="169799" y="758576"/>
                    <a:pt x="0" y="588776"/>
                    <a:pt x="0" y="379351"/>
                  </a:cubicBezTo>
                  <a:close/>
                </a:path>
              </a:pathLst>
            </a:custGeom>
            <a:solidFill>
              <a:srgbClr val="2A1215"/>
            </a:solidFill>
            <a:ln w="19050" cap="sq">
              <a:solidFill>
                <a:srgbClr val="6B1E25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7567511" cy="806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 b="true">
                  <a:solidFill>
                    <a:srgbClr val="FFB9B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Proposta de valor para quem faz o pedido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84109" y="3284858"/>
            <a:ext cx="11519783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b="true" sz="7500" spc="-150">
                <a:solidFill>
                  <a:srgbClr val="F4F1EE"/>
                </a:solidFill>
                <a:latin typeface="Roboto Bold"/>
                <a:ea typeface="Roboto Bold"/>
                <a:cs typeface="Roboto Bold"/>
                <a:sym typeface="Roboto Bold"/>
              </a:rPr>
              <a:t>Diga o que quer cozinhar.</a:t>
            </a:r>
          </a:p>
          <a:p>
            <a:pPr algn="ctr">
              <a:lnSpc>
                <a:spcPts val="8250"/>
              </a:lnSpc>
            </a:pPr>
            <a:r>
              <a:rPr lang="en-US" b="true" sz="7500" spc="-150">
                <a:solidFill>
                  <a:srgbClr val="F4F1EE"/>
                </a:solidFill>
                <a:latin typeface="Roboto Bold"/>
                <a:ea typeface="Roboto Bold"/>
                <a:cs typeface="Roboto Bold"/>
                <a:sym typeface="Roboto Bold"/>
              </a:rPr>
              <a:t>O agente monta o carrinho.</a:t>
            </a:r>
          </a:p>
          <a:p>
            <a:pPr algn="ctr">
              <a:lnSpc>
                <a:spcPts val="8250"/>
              </a:lnSpc>
            </a:pPr>
            <a:r>
              <a:rPr lang="en-US" b="true" sz="7500" spc="-150">
                <a:solidFill>
                  <a:srgbClr val="F2404C"/>
                </a:solidFill>
                <a:latin typeface="Roboto Bold"/>
                <a:ea typeface="Roboto Bold"/>
                <a:cs typeface="Roboto Bold"/>
                <a:sym typeface="Roboto Bold"/>
              </a:rPr>
              <a:t>Você só confirma.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6475" y="6732908"/>
            <a:ext cx="1373505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sz="2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Ideias, r</a:t>
            </a:r>
            <a:r>
              <a:rPr lang="en-US" sz="2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eceita, porções, alergias, despensa, comparação entre mercados e carrinho pronto — </a:t>
            </a:r>
          </a:p>
          <a:p>
            <a:pPr algn="ctr">
              <a:lnSpc>
                <a:spcPts val="3825"/>
              </a:lnSpc>
            </a:pPr>
            <a:r>
              <a:rPr lang="en-US" sz="25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 uma única conversa.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80360" y="9211313"/>
            <a:ext cx="1520028" cy="466087"/>
            <a:chOff x="0" y="0"/>
            <a:chExt cx="2026704" cy="6214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6666" cy="621411"/>
            </a:xfrm>
            <a:custGeom>
              <a:avLst/>
              <a:gdLst/>
              <a:ahLst/>
              <a:cxnLst/>
              <a:rect r="r" b="b" t="t" l="l"/>
              <a:pathLst>
                <a:path h="621411" w="2026666">
                  <a:moveTo>
                    <a:pt x="0" y="304546"/>
                  </a:moveTo>
                  <a:cubicBezTo>
                    <a:pt x="0" y="136398"/>
                    <a:pt x="136398" y="0"/>
                    <a:pt x="304546" y="0"/>
                  </a:cubicBezTo>
                  <a:lnTo>
                    <a:pt x="1722120" y="0"/>
                  </a:lnTo>
                  <a:cubicBezTo>
                    <a:pt x="1890268" y="0"/>
                    <a:pt x="2026666" y="136398"/>
                    <a:pt x="2026666" y="304546"/>
                  </a:cubicBezTo>
                  <a:lnTo>
                    <a:pt x="2026666" y="316865"/>
                  </a:lnTo>
                  <a:cubicBezTo>
                    <a:pt x="2026666" y="485013"/>
                    <a:pt x="1890268" y="621411"/>
                    <a:pt x="1722120" y="621411"/>
                  </a:cubicBezTo>
                  <a:lnTo>
                    <a:pt x="304546" y="621411"/>
                  </a:lnTo>
                  <a:cubicBezTo>
                    <a:pt x="136398" y="621411"/>
                    <a:pt x="0" y="485140"/>
                    <a:pt x="0" y="316865"/>
                  </a:cubicBezTo>
                  <a:close/>
                </a:path>
              </a:pathLst>
            </a:custGeom>
            <a:solidFill>
              <a:srgbClr val="C8101C"/>
            </a:solidFill>
            <a:ln w="19050" cap="sq">
              <a:solidFill>
                <a:srgbClr val="EA1D2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26704" cy="669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 Solução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29652" y="9211313"/>
            <a:ext cx="1616554" cy="466087"/>
            <a:chOff x="0" y="0"/>
            <a:chExt cx="2155406" cy="6214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5444" cy="621411"/>
            </a:xfrm>
            <a:custGeom>
              <a:avLst/>
              <a:gdLst/>
              <a:ahLst/>
              <a:cxnLst/>
              <a:rect r="r" b="b" t="t" l="l"/>
              <a:pathLst>
                <a:path h="621411" w="2155444">
                  <a:moveTo>
                    <a:pt x="0" y="304546"/>
                  </a:moveTo>
                  <a:cubicBezTo>
                    <a:pt x="0" y="136398"/>
                    <a:pt x="136398" y="0"/>
                    <a:pt x="304546" y="0"/>
                  </a:cubicBezTo>
                  <a:lnTo>
                    <a:pt x="1850898" y="0"/>
                  </a:lnTo>
                  <a:cubicBezTo>
                    <a:pt x="2019046" y="0"/>
                    <a:pt x="2155444" y="136398"/>
                    <a:pt x="2155444" y="304546"/>
                  </a:cubicBezTo>
                  <a:lnTo>
                    <a:pt x="2155444" y="316865"/>
                  </a:lnTo>
                  <a:cubicBezTo>
                    <a:pt x="2155444" y="485013"/>
                    <a:pt x="2019046" y="621411"/>
                    <a:pt x="1850898" y="621411"/>
                  </a:cubicBezTo>
                  <a:lnTo>
                    <a:pt x="304546" y="621411"/>
                  </a:lnTo>
                  <a:cubicBezTo>
                    <a:pt x="136398" y="621411"/>
                    <a:pt x="0" y="485140"/>
                    <a:pt x="0" y="31686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82" r="1" b="-17588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55406" cy="669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 Interface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60506" y="9211313"/>
            <a:ext cx="1500664" cy="466090"/>
            <a:chOff x="0" y="0"/>
            <a:chExt cx="2000885" cy="6214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885" cy="621416"/>
            </a:xfrm>
            <a:custGeom>
              <a:avLst/>
              <a:gdLst/>
              <a:ahLst/>
              <a:cxnLst/>
              <a:rect r="r" b="b" t="t" l="l"/>
              <a:pathLst>
                <a:path h="621416" w="2000885">
                  <a:moveTo>
                    <a:pt x="0" y="304548"/>
                  </a:moveTo>
                  <a:cubicBezTo>
                    <a:pt x="0" y="136399"/>
                    <a:pt x="136398" y="0"/>
                    <a:pt x="304546" y="0"/>
                  </a:cubicBezTo>
                  <a:lnTo>
                    <a:pt x="1696339" y="0"/>
                  </a:lnTo>
                  <a:cubicBezTo>
                    <a:pt x="1864487" y="0"/>
                    <a:pt x="2000885" y="136399"/>
                    <a:pt x="2000885" y="304548"/>
                  </a:cubicBezTo>
                  <a:lnTo>
                    <a:pt x="2000885" y="316867"/>
                  </a:lnTo>
                  <a:cubicBezTo>
                    <a:pt x="2000885" y="485017"/>
                    <a:pt x="1864487" y="621416"/>
                    <a:pt x="1696339" y="621416"/>
                  </a:cubicBezTo>
                  <a:lnTo>
                    <a:pt x="304546" y="621416"/>
                  </a:lnTo>
                  <a:cubicBezTo>
                    <a:pt x="136398" y="621416"/>
                    <a:pt x="0" y="485144"/>
                    <a:pt x="0" y="3168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36" r="0" b="-12742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00885" cy="66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 Impacto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75470" y="9211313"/>
            <a:ext cx="2235041" cy="466087"/>
            <a:chOff x="0" y="0"/>
            <a:chExt cx="2980055" cy="6214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80055" cy="621411"/>
            </a:xfrm>
            <a:custGeom>
              <a:avLst/>
              <a:gdLst/>
              <a:ahLst/>
              <a:cxnLst/>
              <a:rect r="r" b="b" t="t" l="l"/>
              <a:pathLst>
                <a:path h="621411" w="2980055">
                  <a:moveTo>
                    <a:pt x="0" y="304546"/>
                  </a:moveTo>
                  <a:cubicBezTo>
                    <a:pt x="0" y="136398"/>
                    <a:pt x="136398" y="0"/>
                    <a:pt x="304546" y="0"/>
                  </a:cubicBezTo>
                  <a:lnTo>
                    <a:pt x="2675509" y="0"/>
                  </a:lnTo>
                  <a:cubicBezTo>
                    <a:pt x="2843657" y="0"/>
                    <a:pt x="2980055" y="136398"/>
                    <a:pt x="2980055" y="304546"/>
                  </a:cubicBezTo>
                  <a:lnTo>
                    <a:pt x="2980055" y="316865"/>
                  </a:lnTo>
                  <a:cubicBezTo>
                    <a:pt x="2980055" y="485013"/>
                    <a:pt x="2843657" y="621411"/>
                    <a:pt x="2675509" y="621411"/>
                  </a:cubicBezTo>
                  <a:lnTo>
                    <a:pt x="304546" y="621411"/>
                  </a:lnTo>
                  <a:cubicBezTo>
                    <a:pt x="136398" y="621411"/>
                    <a:pt x="0" y="485140"/>
                    <a:pt x="0" y="31686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39" r="0" b="-43446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980055" cy="669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 Feedback MCP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14688" y="9211313"/>
            <a:ext cx="1500664" cy="466090"/>
            <a:chOff x="0" y="0"/>
            <a:chExt cx="2000885" cy="6214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0885" cy="621416"/>
            </a:xfrm>
            <a:custGeom>
              <a:avLst/>
              <a:gdLst/>
              <a:ahLst/>
              <a:cxnLst/>
              <a:rect r="r" b="b" t="t" l="l"/>
              <a:pathLst>
                <a:path h="621416" w="2000885">
                  <a:moveTo>
                    <a:pt x="0" y="304548"/>
                  </a:moveTo>
                  <a:cubicBezTo>
                    <a:pt x="0" y="136399"/>
                    <a:pt x="136398" y="0"/>
                    <a:pt x="304546" y="0"/>
                  </a:cubicBezTo>
                  <a:lnTo>
                    <a:pt x="1696339" y="0"/>
                  </a:lnTo>
                  <a:cubicBezTo>
                    <a:pt x="1864487" y="0"/>
                    <a:pt x="2000885" y="136399"/>
                    <a:pt x="2000885" y="304548"/>
                  </a:cubicBezTo>
                  <a:lnTo>
                    <a:pt x="2000885" y="316867"/>
                  </a:lnTo>
                  <a:cubicBezTo>
                    <a:pt x="2000885" y="485017"/>
                    <a:pt x="1864487" y="621416"/>
                    <a:pt x="1696339" y="621416"/>
                  </a:cubicBezTo>
                  <a:lnTo>
                    <a:pt x="304546" y="621416"/>
                  </a:lnTo>
                  <a:cubicBezTo>
                    <a:pt x="136398" y="621416"/>
                    <a:pt x="0" y="485144"/>
                    <a:pt x="0" y="3168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36" r="0" b="-12742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000885" cy="66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 Técnico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6032" y="9211317"/>
            <a:ext cx="1520028" cy="466090"/>
            <a:chOff x="0" y="0"/>
            <a:chExt cx="2026704" cy="6214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6666" cy="621416"/>
            </a:xfrm>
            <a:custGeom>
              <a:avLst/>
              <a:gdLst/>
              <a:ahLst/>
              <a:cxnLst/>
              <a:rect r="r" b="b" t="t" l="l"/>
              <a:pathLst>
                <a:path h="621416" w="2026666">
                  <a:moveTo>
                    <a:pt x="0" y="304548"/>
                  </a:moveTo>
                  <a:cubicBezTo>
                    <a:pt x="0" y="136399"/>
                    <a:pt x="136398" y="0"/>
                    <a:pt x="304546" y="0"/>
                  </a:cubicBezTo>
                  <a:lnTo>
                    <a:pt x="1722120" y="0"/>
                  </a:lnTo>
                  <a:cubicBezTo>
                    <a:pt x="1890268" y="0"/>
                    <a:pt x="2026666" y="136399"/>
                    <a:pt x="2026666" y="304548"/>
                  </a:cubicBezTo>
                  <a:lnTo>
                    <a:pt x="2026666" y="316867"/>
                  </a:lnTo>
                  <a:cubicBezTo>
                    <a:pt x="2026666" y="485017"/>
                    <a:pt x="1890268" y="621416"/>
                    <a:pt x="1722120" y="621416"/>
                  </a:cubicBezTo>
                  <a:lnTo>
                    <a:pt x="304546" y="621416"/>
                  </a:lnTo>
                  <a:cubicBezTo>
                    <a:pt x="136398" y="621416"/>
                    <a:pt x="0" y="485144"/>
                    <a:pt x="0" y="3168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46" r="-1" b="-13551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026704" cy="66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 Negócio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9185967"/>
            <a:ext cx="1610325" cy="491433"/>
            <a:chOff x="0" y="0"/>
            <a:chExt cx="2147100" cy="65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7189" cy="655320"/>
            </a:xfrm>
            <a:custGeom>
              <a:avLst/>
              <a:gdLst/>
              <a:ahLst/>
              <a:cxnLst/>
              <a:rect r="r" b="b" t="t" l="l"/>
              <a:pathLst>
                <a:path h="655320" w="214718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819529" y="0"/>
                  </a:lnTo>
                  <a:cubicBezTo>
                    <a:pt x="2000504" y="0"/>
                    <a:pt x="2147189" y="146685"/>
                    <a:pt x="2147189" y="327660"/>
                  </a:cubicBezTo>
                  <a:cubicBezTo>
                    <a:pt x="2147189" y="508635"/>
                    <a:pt x="2000504" y="655320"/>
                    <a:pt x="181952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471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 Negócio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43825" y="9195492"/>
            <a:ext cx="1567015" cy="472383"/>
            <a:chOff x="0" y="0"/>
            <a:chExt cx="2089353" cy="6298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9404" cy="629920"/>
            </a:xfrm>
            <a:custGeom>
              <a:avLst/>
              <a:gdLst/>
              <a:ahLst/>
              <a:cxnLst/>
              <a:rect r="r" b="b" t="t" l="l"/>
              <a:pathLst>
                <a:path h="629920" w="2089404">
                  <a:moveTo>
                    <a:pt x="0" y="314960"/>
                  </a:moveTo>
                  <a:cubicBezTo>
                    <a:pt x="0" y="140970"/>
                    <a:pt x="140970" y="0"/>
                    <a:pt x="314960" y="0"/>
                  </a:cubicBezTo>
                  <a:lnTo>
                    <a:pt x="1774444" y="0"/>
                  </a:lnTo>
                  <a:cubicBezTo>
                    <a:pt x="1948307" y="0"/>
                    <a:pt x="2089404" y="140970"/>
                    <a:pt x="2089404" y="314960"/>
                  </a:cubicBezTo>
                  <a:cubicBezTo>
                    <a:pt x="2089404" y="488950"/>
                    <a:pt x="1948434" y="629920"/>
                    <a:pt x="1774444" y="629920"/>
                  </a:cubicBezTo>
                  <a:lnTo>
                    <a:pt x="314960" y="629920"/>
                  </a:lnTo>
                  <a:cubicBezTo>
                    <a:pt x="140970" y="629793"/>
                    <a:pt x="0" y="488823"/>
                    <a:pt x="0" y="3149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89353" cy="67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AF7F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 Solução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25130" y="9185967"/>
            <a:ext cx="1562100" cy="491433"/>
            <a:chOff x="0" y="0"/>
            <a:chExt cx="2082800" cy="6552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2800" cy="655320"/>
            </a:xfrm>
            <a:custGeom>
              <a:avLst/>
              <a:gdLst/>
              <a:ahLst/>
              <a:cxnLst/>
              <a:rect r="r" b="b" t="t" l="l"/>
              <a:pathLst>
                <a:path h="655320" w="2082800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55140" y="0"/>
                  </a:lnTo>
                  <a:cubicBezTo>
                    <a:pt x="1936115" y="0"/>
                    <a:pt x="2082800" y="146685"/>
                    <a:pt x="2082800" y="327660"/>
                  </a:cubicBezTo>
                  <a:cubicBezTo>
                    <a:pt x="2082800" y="508635"/>
                    <a:pt x="1936115" y="655320"/>
                    <a:pt x="1755140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828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 Técnico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1530" y="9185967"/>
            <a:ext cx="1685630" cy="491433"/>
            <a:chOff x="0" y="0"/>
            <a:chExt cx="2247506" cy="6552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7519" cy="655320"/>
            </a:xfrm>
            <a:custGeom>
              <a:avLst/>
              <a:gdLst/>
              <a:ahLst/>
              <a:cxnLst/>
              <a:rect r="r" b="b" t="t" l="l"/>
              <a:pathLst>
                <a:path h="655320" w="224751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919859" y="0"/>
                  </a:lnTo>
                  <a:cubicBezTo>
                    <a:pt x="2100834" y="0"/>
                    <a:pt x="2247519" y="146685"/>
                    <a:pt x="2247519" y="327660"/>
                  </a:cubicBezTo>
                  <a:cubicBezTo>
                    <a:pt x="2247519" y="508635"/>
                    <a:pt x="2100834" y="655320"/>
                    <a:pt x="191985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47506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 Interface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1460" y="9185967"/>
            <a:ext cx="1595590" cy="491433"/>
            <a:chOff x="0" y="0"/>
            <a:chExt cx="2127453" cy="6552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75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275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99844" y="0"/>
                  </a:lnTo>
                  <a:cubicBezTo>
                    <a:pt x="1980819" y="0"/>
                    <a:pt x="2127504" y="146685"/>
                    <a:pt x="2127504" y="327660"/>
                  </a:cubicBezTo>
                  <a:cubicBezTo>
                    <a:pt x="2127504" y="508635"/>
                    <a:pt x="1980819" y="655320"/>
                    <a:pt x="17998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274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 Impacto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11350" y="9185967"/>
            <a:ext cx="2302078" cy="491433"/>
            <a:chOff x="0" y="0"/>
            <a:chExt cx="3069438" cy="6552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69463" cy="655320"/>
            </a:xfrm>
            <a:custGeom>
              <a:avLst/>
              <a:gdLst/>
              <a:ahLst/>
              <a:cxnLst/>
              <a:rect r="r" b="b" t="t" l="l"/>
              <a:pathLst>
                <a:path h="655320" w="3069463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2741803" y="0"/>
                  </a:lnTo>
                  <a:cubicBezTo>
                    <a:pt x="2922778" y="0"/>
                    <a:pt x="3069463" y="146685"/>
                    <a:pt x="3069463" y="327660"/>
                  </a:cubicBezTo>
                  <a:cubicBezTo>
                    <a:pt x="3069463" y="508635"/>
                    <a:pt x="2922778" y="655320"/>
                    <a:pt x="2741803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069438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 Feedback MCP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3769" y="3724275"/>
            <a:ext cx="2601772" cy="3131820"/>
            <a:chOff x="0" y="0"/>
            <a:chExt cx="3469029" cy="4175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69067" cy="4175837"/>
            </a:xfrm>
            <a:custGeom>
              <a:avLst/>
              <a:gdLst/>
              <a:ahLst/>
              <a:cxnLst/>
              <a:rect r="r" b="b" t="t" l="l"/>
              <a:pathLst>
                <a:path h="4175837" w="3469067">
                  <a:moveTo>
                    <a:pt x="0" y="261633"/>
                  </a:moveTo>
                  <a:cubicBezTo>
                    <a:pt x="0" y="117113"/>
                    <a:pt x="106703" y="0"/>
                    <a:pt x="238376" y="0"/>
                  </a:cubicBezTo>
                  <a:lnTo>
                    <a:pt x="3230689" y="0"/>
                  </a:lnTo>
                  <a:cubicBezTo>
                    <a:pt x="3362363" y="0"/>
                    <a:pt x="3469067" y="117113"/>
                    <a:pt x="3469067" y="261633"/>
                  </a:cubicBezTo>
                  <a:lnTo>
                    <a:pt x="3469067" y="3914207"/>
                  </a:lnTo>
                  <a:cubicBezTo>
                    <a:pt x="3469067" y="4058727"/>
                    <a:pt x="3362363" y="4175837"/>
                    <a:pt x="3230689" y="4175837"/>
                  </a:cubicBezTo>
                  <a:lnTo>
                    <a:pt x="238376" y="4175837"/>
                  </a:lnTo>
                  <a:cubicBezTo>
                    <a:pt x="106703" y="4175707"/>
                    <a:pt x="0" y="4058593"/>
                    <a:pt x="0" y="3914207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39346" y="4005443"/>
            <a:ext cx="559708" cy="419591"/>
            <a:chOff x="0" y="0"/>
            <a:chExt cx="746277" cy="5594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290" cy="559531"/>
            </a:xfrm>
            <a:custGeom>
              <a:avLst/>
              <a:gdLst/>
              <a:ahLst/>
              <a:cxnLst/>
              <a:rect r="r" b="b" t="t" l="l"/>
              <a:pathLst>
                <a:path h="559531" w="746290">
                  <a:moveTo>
                    <a:pt x="280398" y="0"/>
                  </a:moveTo>
                  <a:lnTo>
                    <a:pt x="465892" y="0"/>
                  </a:lnTo>
                  <a:cubicBezTo>
                    <a:pt x="620785" y="0"/>
                    <a:pt x="746290" y="125223"/>
                    <a:pt x="746290" y="279768"/>
                  </a:cubicBezTo>
                  <a:cubicBezTo>
                    <a:pt x="746290" y="434313"/>
                    <a:pt x="620785" y="559531"/>
                    <a:pt x="465892" y="559531"/>
                  </a:cubicBezTo>
                  <a:lnTo>
                    <a:pt x="280398" y="559531"/>
                  </a:lnTo>
                  <a:cubicBezTo>
                    <a:pt x="125505" y="559401"/>
                    <a:pt x="0" y="434178"/>
                    <a:pt x="0" y="279768"/>
                  </a:cubicBezTo>
                  <a:cubicBezTo>
                    <a:pt x="0" y="125357"/>
                    <a:pt x="125505" y="0"/>
                    <a:pt x="280398" y="0"/>
                  </a:cubicBezTo>
                  <a:close/>
                </a:path>
              </a:pathLst>
            </a:custGeom>
            <a:solidFill>
              <a:srgbClr val="FF5A6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46277" cy="597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 b="true">
                  <a:solidFill>
                    <a:srgbClr val="1A1A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MCP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16863" y="4603115"/>
            <a:ext cx="20355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Login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6863" y="5060315"/>
            <a:ext cx="2035583" cy="14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Conexão com a conta do Ifood e seleção do endereço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222784" y="5243036"/>
            <a:ext cx="283094" cy="133350"/>
            <a:chOff x="0" y="0"/>
            <a:chExt cx="377459" cy="177800"/>
          </a:xfrm>
        </p:grpSpPr>
        <p:sp>
          <p:nvSpPr>
            <p:cNvPr name="Freeform 28" id="28" descr="arrow-right"/>
            <p:cNvSpPr/>
            <p:nvPr/>
          </p:nvSpPr>
          <p:spPr>
            <a:xfrm flipH="false" flipV="false" rot="0">
              <a:off x="0" y="0"/>
              <a:ext cx="377459" cy="177800"/>
            </a:xfrm>
            <a:custGeom>
              <a:avLst/>
              <a:gdLst/>
              <a:ahLst/>
              <a:cxnLst/>
              <a:rect r="r" b="b" t="t" l="l"/>
              <a:pathLst>
                <a:path h="177800" w="377459">
                  <a:moveTo>
                    <a:pt x="0" y="0"/>
                  </a:moveTo>
                  <a:lnTo>
                    <a:pt x="377459" y="0"/>
                  </a:lnTo>
                  <a:lnTo>
                    <a:pt x="377459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73" r="0" b="-307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492716" y="3669665"/>
            <a:ext cx="2601772" cy="3186430"/>
            <a:chOff x="0" y="0"/>
            <a:chExt cx="3469029" cy="42485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69067" cy="4248650"/>
            </a:xfrm>
            <a:custGeom>
              <a:avLst/>
              <a:gdLst/>
              <a:ahLst/>
              <a:cxnLst/>
              <a:rect r="r" b="b" t="t" l="l"/>
              <a:pathLst>
                <a:path h="4248650" w="3469067">
                  <a:moveTo>
                    <a:pt x="0" y="266196"/>
                  </a:moveTo>
                  <a:cubicBezTo>
                    <a:pt x="0" y="119155"/>
                    <a:pt x="106703" y="0"/>
                    <a:pt x="238376" y="0"/>
                  </a:cubicBezTo>
                  <a:lnTo>
                    <a:pt x="3230689" y="0"/>
                  </a:lnTo>
                  <a:cubicBezTo>
                    <a:pt x="3362363" y="0"/>
                    <a:pt x="3469067" y="119155"/>
                    <a:pt x="3469067" y="266196"/>
                  </a:cubicBezTo>
                  <a:lnTo>
                    <a:pt x="3469067" y="3982460"/>
                  </a:lnTo>
                  <a:cubicBezTo>
                    <a:pt x="3469067" y="4129499"/>
                    <a:pt x="3362363" y="4248650"/>
                    <a:pt x="3230689" y="4248650"/>
                  </a:cubicBezTo>
                  <a:lnTo>
                    <a:pt x="238376" y="4248650"/>
                  </a:lnTo>
                  <a:cubicBezTo>
                    <a:pt x="106703" y="4248519"/>
                    <a:pt x="0" y="4129363"/>
                    <a:pt x="0" y="3982460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3775810" y="4005443"/>
            <a:ext cx="559708" cy="419591"/>
            <a:chOff x="0" y="0"/>
            <a:chExt cx="746277" cy="5594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6290" cy="559531"/>
            </a:xfrm>
            <a:custGeom>
              <a:avLst/>
              <a:gdLst/>
              <a:ahLst/>
              <a:cxnLst/>
              <a:rect r="r" b="b" t="t" l="l"/>
              <a:pathLst>
                <a:path h="559531" w="746290">
                  <a:moveTo>
                    <a:pt x="280398" y="0"/>
                  </a:moveTo>
                  <a:lnTo>
                    <a:pt x="465892" y="0"/>
                  </a:lnTo>
                  <a:cubicBezTo>
                    <a:pt x="620785" y="0"/>
                    <a:pt x="746290" y="125223"/>
                    <a:pt x="746290" y="279768"/>
                  </a:cubicBezTo>
                  <a:cubicBezTo>
                    <a:pt x="746290" y="434313"/>
                    <a:pt x="620785" y="559531"/>
                    <a:pt x="465892" y="559531"/>
                  </a:cubicBezTo>
                  <a:lnTo>
                    <a:pt x="280398" y="559531"/>
                  </a:lnTo>
                  <a:cubicBezTo>
                    <a:pt x="125505" y="559401"/>
                    <a:pt x="0" y="434178"/>
                    <a:pt x="0" y="279768"/>
                  </a:cubicBezTo>
                  <a:cubicBezTo>
                    <a:pt x="0" y="125357"/>
                    <a:pt x="125505" y="0"/>
                    <a:pt x="280398" y="0"/>
                  </a:cubicBezTo>
                  <a:close/>
                </a:path>
              </a:pathLst>
            </a:custGeom>
            <a:solidFill>
              <a:srgbClr val="FFC2C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46277" cy="6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A1A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LLM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775810" y="4603115"/>
            <a:ext cx="20355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Conversa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775810" y="5060315"/>
            <a:ext cx="2035583" cy="14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prato, a receita, quantas pessoas e restrições</a:t>
            </a:r>
          </a:p>
          <a:p>
            <a:pPr algn="l">
              <a:lnSpc>
                <a:spcPts val="2869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6080760" y="5243036"/>
            <a:ext cx="283094" cy="133350"/>
            <a:chOff x="0" y="0"/>
            <a:chExt cx="377459" cy="177800"/>
          </a:xfrm>
        </p:grpSpPr>
        <p:sp>
          <p:nvSpPr>
            <p:cNvPr name="Freeform 37" id="37" descr="arrow-right"/>
            <p:cNvSpPr/>
            <p:nvPr/>
          </p:nvSpPr>
          <p:spPr>
            <a:xfrm flipH="false" flipV="false" rot="0">
              <a:off x="0" y="0"/>
              <a:ext cx="377459" cy="177800"/>
            </a:xfrm>
            <a:custGeom>
              <a:avLst/>
              <a:gdLst/>
              <a:ahLst/>
              <a:cxnLst/>
              <a:rect r="r" b="b" t="t" l="l"/>
              <a:pathLst>
                <a:path h="177800" w="377459">
                  <a:moveTo>
                    <a:pt x="0" y="0"/>
                  </a:moveTo>
                  <a:lnTo>
                    <a:pt x="377459" y="0"/>
                  </a:lnTo>
                  <a:lnTo>
                    <a:pt x="377459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73" r="0" b="-3073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348979" y="3669665"/>
            <a:ext cx="2601772" cy="3186430"/>
            <a:chOff x="0" y="0"/>
            <a:chExt cx="3469029" cy="42485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69067" cy="4248650"/>
            </a:xfrm>
            <a:custGeom>
              <a:avLst/>
              <a:gdLst/>
              <a:ahLst/>
              <a:cxnLst/>
              <a:rect r="r" b="b" t="t" l="l"/>
              <a:pathLst>
                <a:path h="4248650" w="3469067">
                  <a:moveTo>
                    <a:pt x="0" y="266196"/>
                  </a:moveTo>
                  <a:cubicBezTo>
                    <a:pt x="0" y="119155"/>
                    <a:pt x="106703" y="0"/>
                    <a:pt x="238376" y="0"/>
                  </a:cubicBezTo>
                  <a:lnTo>
                    <a:pt x="3230689" y="0"/>
                  </a:lnTo>
                  <a:cubicBezTo>
                    <a:pt x="3362363" y="0"/>
                    <a:pt x="3469067" y="119155"/>
                    <a:pt x="3469067" y="266196"/>
                  </a:cubicBezTo>
                  <a:lnTo>
                    <a:pt x="3469067" y="3982460"/>
                  </a:lnTo>
                  <a:cubicBezTo>
                    <a:pt x="3469067" y="4129499"/>
                    <a:pt x="3362363" y="4248650"/>
                    <a:pt x="3230689" y="4248650"/>
                  </a:cubicBezTo>
                  <a:lnTo>
                    <a:pt x="238376" y="4248650"/>
                  </a:lnTo>
                  <a:cubicBezTo>
                    <a:pt x="106703" y="4248519"/>
                    <a:pt x="0" y="4129363"/>
                    <a:pt x="0" y="3982460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936831" y="5243036"/>
            <a:ext cx="283094" cy="133350"/>
            <a:chOff x="0" y="0"/>
            <a:chExt cx="377459" cy="177800"/>
          </a:xfrm>
        </p:grpSpPr>
        <p:sp>
          <p:nvSpPr>
            <p:cNvPr name="Freeform 41" id="41" descr="arrow-right"/>
            <p:cNvSpPr/>
            <p:nvPr/>
          </p:nvSpPr>
          <p:spPr>
            <a:xfrm flipH="false" flipV="false" rot="0">
              <a:off x="0" y="0"/>
              <a:ext cx="377459" cy="177800"/>
            </a:xfrm>
            <a:custGeom>
              <a:avLst/>
              <a:gdLst/>
              <a:ahLst/>
              <a:cxnLst/>
              <a:rect r="r" b="b" t="t" l="l"/>
              <a:pathLst>
                <a:path h="177800" w="377459">
                  <a:moveTo>
                    <a:pt x="0" y="0"/>
                  </a:moveTo>
                  <a:lnTo>
                    <a:pt x="377459" y="0"/>
                  </a:lnTo>
                  <a:lnTo>
                    <a:pt x="377459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73" r="0" b="-307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205242" y="3669665"/>
            <a:ext cx="2601772" cy="3186430"/>
            <a:chOff x="0" y="0"/>
            <a:chExt cx="3469029" cy="42485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69067" cy="4248650"/>
            </a:xfrm>
            <a:custGeom>
              <a:avLst/>
              <a:gdLst/>
              <a:ahLst/>
              <a:cxnLst/>
              <a:rect r="r" b="b" t="t" l="l"/>
              <a:pathLst>
                <a:path h="4248650" w="3469067">
                  <a:moveTo>
                    <a:pt x="0" y="266196"/>
                  </a:moveTo>
                  <a:cubicBezTo>
                    <a:pt x="0" y="119155"/>
                    <a:pt x="106703" y="0"/>
                    <a:pt x="238376" y="0"/>
                  </a:cubicBezTo>
                  <a:lnTo>
                    <a:pt x="3230689" y="0"/>
                  </a:lnTo>
                  <a:cubicBezTo>
                    <a:pt x="3362363" y="0"/>
                    <a:pt x="3469067" y="119155"/>
                    <a:pt x="3469067" y="266196"/>
                  </a:cubicBezTo>
                  <a:lnTo>
                    <a:pt x="3469067" y="3982460"/>
                  </a:lnTo>
                  <a:cubicBezTo>
                    <a:pt x="3469067" y="4129499"/>
                    <a:pt x="3362363" y="4248650"/>
                    <a:pt x="3230689" y="4248650"/>
                  </a:cubicBezTo>
                  <a:lnTo>
                    <a:pt x="238376" y="4248650"/>
                  </a:lnTo>
                  <a:cubicBezTo>
                    <a:pt x="106703" y="4248519"/>
                    <a:pt x="0" y="4129363"/>
                    <a:pt x="0" y="3982460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061505" y="3669665"/>
            <a:ext cx="2601772" cy="3186430"/>
            <a:chOff x="0" y="0"/>
            <a:chExt cx="3469029" cy="424857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69067" cy="4248650"/>
            </a:xfrm>
            <a:custGeom>
              <a:avLst/>
              <a:gdLst/>
              <a:ahLst/>
              <a:cxnLst/>
              <a:rect r="r" b="b" t="t" l="l"/>
              <a:pathLst>
                <a:path h="4248650" w="3469067">
                  <a:moveTo>
                    <a:pt x="0" y="266196"/>
                  </a:moveTo>
                  <a:cubicBezTo>
                    <a:pt x="0" y="119155"/>
                    <a:pt x="106703" y="0"/>
                    <a:pt x="238376" y="0"/>
                  </a:cubicBezTo>
                  <a:lnTo>
                    <a:pt x="3230689" y="0"/>
                  </a:lnTo>
                  <a:cubicBezTo>
                    <a:pt x="3362363" y="0"/>
                    <a:pt x="3469067" y="119155"/>
                    <a:pt x="3469067" y="266196"/>
                  </a:cubicBezTo>
                  <a:lnTo>
                    <a:pt x="3469067" y="3982460"/>
                  </a:lnTo>
                  <a:cubicBezTo>
                    <a:pt x="3469067" y="4129499"/>
                    <a:pt x="3362363" y="4248650"/>
                    <a:pt x="3230689" y="4248650"/>
                  </a:cubicBezTo>
                  <a:lnTo>
                    <a:pt x="238376" y="4248650"/>
                  </a:lnTo>
                  <a:cubicBezTo>
                    <a:pt x="106703" y="4248519"/>
                    <a:pt x="0" y="4129363"/>
                    <a:pt x="0" y="3982460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792902" y="5243036"/>
            <a:ext cx="283094" cy="133350"/>
            <a:chOff x="0" y="0"/>
            <a:chExt cx="377459" cy="177800"/>
          </a:xfrm>
        </p:grpSpPr>
        <p:sp>
          <p:nvSpPr>
            <p:cNvPr name="Freeform 47" id="47" descr="arrow-right"/>
            <p:cNvSpPr/>
            <p:nvPr/>
          </p:nvSpPr>
          <p:spPr>
            <a:xfrm flipH="false" flipV="false" rot="0">
              <a:off x="0" y="0"/>
              <a:ext cx="377459" cy="177800"/>
            </a:xfrm>
            <a:custGeom>
              <a:avLst/>
              <a:gdLst/>
              <a:ahLst/>
              <a:cxnLst/>
              <a:rect r="r" b="b" t="t" l="l"/>
              <a:pathLst>
                <a:path h="177800" w="377459">
                  <a:moveTo>
                    <a:pt x="0" y="0"/>
                  </a:moveTo>
                  <a:lnTo>
                    <a:pt x="377459" y="0"/>
                  </a:lnTo>
                  <a:lnTo>
                    <a:pt x="377459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73" r="0" b="-307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942516" y="3669665"/>
            <a:ext cx="2601772" cy="2971800"/>
            <a:chOff x="0" y="0"/>
            <a:chExt cx="3469029" cy="3962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69029" cy="3962400"/>
            </a:xfrm>
            <a:custGeom>
              <a:avLst/>
              <a:gdLst/>
              <a:ahLst/>
              <a:cxnLst/>
              <a:rect r="r" b="b" t="t" l="l"/>
              <a:pathLst>
                <a:path h="3962400" w="3469029">
                  <a:moveTo>
                    <a:pt x="191432" y="0"/>
                  </a:moveTo>
                  <a:lnTo>
                    <a:pt x="3277596" y="0"/>
                  </a:lnTo>
                  <a:cubicBezTo>
                    <a:pt x="3328367" y="0"/>
                    <a:pt x="3377059" y="20169"/>
                    <a:pt x="3412960" y="56069"/>
                  </a:cubicBezTo>
                  <a:cubicBezTo>
                    <a:pt x="3448860" y="91970"/>
                    <a:pt x="3469029" y="140661"/>
                    <a:pt x="3469029" y="191432"/>
                  </a:cubicBezTo>
                  <a:lnTo>
                    <a:pt x="3469029" y="3770967"/>
                  </a:lnTo>
                  <a:cubicBezTo>
                    <a:pt x="3469029" y="3876693"/>
                    <a:pt x="3383322" y="3962400"/>
                    <a:pt x="3277596" y="3962400"/>
                  </a:cubicBezTo>
                  <a:lnTo>
                    <a:pt x="191432" y="3962400"/>
                  </a:lnTo>
                  <a:cubicBezTo>
                    <a:pt x="85707" y="3962400"/>
                    <a:pt x="0" y="3876693"/>
                    <a:pt x="0" y="3770967"/>
                  </a:cubicBezTo>
                  <a:lnTo>
                    <a:pt x="0" y="191432"/>
                  </a:lnTo>
                  <a:cubicBezTo>
                    <a:pt x="0" y="85707"/>
                    <a:pt x="85707" y="0"/>
                    <a:pt x="191432" y="0"/>
                  </a:cubicBezTo>
                  <a:close/>
                </a:path>
              </a:pathLst>
            </a:custGeom>
            <a:solidFill>
              <a:srgbClr val="1A1A1C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469029" cy="400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225611" y="3936365"/>
            <a:ext cx="1466024" cy="400050"/>
            <a:chOff x="0" y="0"/>
            <a:chExt cx="1954699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54699" cy="533400"/>
            </a:xfrm>
            <a:custGeom>
              <a:avLst/>
              <a:gdLst/>
              <a:ahLst/>
              <a:cxnLst/>
              <a:rect r="r" b="b" t="t" l="l"/>
              <a:pathLst>
                <a:path h="533400" w="1954699">
                  <a:moveTo>
                    <a:pt x="251255" y="0"/>
                  </a:moveTo>
                  <a:lnTo>
                    <a:pt x="1703444" y="0"/>
                  </a:lnTo>
                  <a:cubicBezTo>
                    <a:pt x="1770081" y="0"/>
                    <a:pt x="1833988" y="26471"/>
                    <a:pt x="1881108" y="73591"/>
                  </a:cubicBezTo>
                  <a:cubicBezTo>
                    <a:pt x="1928227" y="120710"/>
                    <a:pt x="1954699" y="184618"/>
                    <a:pt x="1954699" y="251255"/>
                  </a:cubicBezTo>
                  <a:lnTo>
                    <a:pt x="1954699" y="282145"/>
                  </a:lnTo>
                  <a:cubicBezTo>
                    <a:pt x="1954699" y="348782"/>
                    <a:pt x="1928227" y="412690"/>
                    <a:pt x="1881108" y="459809"/>
                  </a:cubicBezTo>
                  <a:cubicBezTo>
                    <a:pt x="1833988" y="506929"/>
                    <a:pt x="1770081" y="533400"/>
                    <a:pt x="1703444" y="533400"/>
                  </a:cubicBezTo>
                  <a:lnTo>
                    <a:pt x="251255" y="533400"/>
                  </a:lnTo>
                  <a:cubicBezTo>
                    <a:pt x="184618" y="533400"/>
                    <a:pt x="120710" y="506929"/>
                    <a:pt x="73591" y="459809"/>
                  </a:cubicBezTo>
                  <a:cubicBezTo>
                    <a:pt x="26471" y="412690"/>
                    <a:pt x="0" y="348782"/>
                    <a:pt x="0" y="282145"/>
                  </a:cubicBezTo>
                  <a:lnTo>
                    <a:pt x="0" y="251255"/>
                  </a:lnTo>
                  <a:cubicBezTo>
                    <a:pt x="0" y="184618"/>
                    <a:pt x="26471" y="120710"/>
                    <a:pt x="73591" y="73591"/>
                  </a:cubicBezTo>
                  <a:cubicBezTo>
                    <a:pt x="120710" y="26471"/>
                    <a:pt x="184618" y="0"/>
                    <a:pt x="251255" y="0"/>
                  </a:cubicBezTo>
                  <a:close/>
                </a:path>
              </a:pathLst>
            </a:custGeom>
            <a:solidFill>
              <a:srgbClr val="B4B0B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954699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 b="true">
                  <a:solidFill>
                    <a:srgbClr val="15151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Feedback MCP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5225611" y="4545965"/>
            <a:ext cx="2035583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4F0EE"/>
                </a:solidFill>
                <a:latin typeface="Arimo"/>
                <a:ea typeface="Arimo"/>
                <a:cs typeface="Arimo"/>
                <a:sym typeface="Arimo"/>
              </a:rPr>
              <a:t>Feedback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4917768" y="3669665"/>
            <a:ext cx="2601772" cy="3186430"/>
            <a:chOff x="0" y="0"/>
            <a:chExt cx="3469029" cy="424857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69067" cy="4248650"/>
            </a:xfrm>
            <a:custGeom>
              <a:avLst/>
              <a:gdLst/>
              <a:ahLst/>
              <a:cxnLst/>
              <a:rect r="r" b="b" t="t" l="l"/>
              <a:pathLst>
                <a:path h="4248650" w="3469067">
                  <a:moveTo>
                    <a:pt x="0" y="266196"/>
                  </a:moveTo>
                  <a:cubicBezTo>
                    <a:pt x="0" y="119155"/>
                    <a:pt x="106703" y="0"/>
                    <a:pt x="238376" y="0"/>
                  </a:cubicBezTo>
                  <a:lnTo>
                    <a:pt x="3230689" y="0"/>
                  </a:lnTo>
                  <a:cubicBezTo>
                    <a:pt x="3362363" y="0"/>
                    <a:pt x="3469067" y="119155"/>
                    <a:pt x="3469067" y="266196"/>
                  </a:cubicBezTo>
                  <a:lnTo>
                    <a:pt x="3469067" y="3982460"/>
                  </a:lnTo>
                  <a:cubicBezTo>
                    <a:pt x="3469067" y="4129499"/>
                    <a:pt x="3362363" y="4248650"/>
                    <a:pt x="3230689" y="4248650"/>
                  </a:cubicBezTo>
                  <a:lnTo>
                    <a:pt x="238376" y="4248650"/>
                  </a:lnTo>
                  <a:cubicBezTo>
                    <a:pt x="106703" y="4248519"/>
                    <a:pt x="0" y="4129363"/>
                    <a:pt x="0" y="39824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C1216">
                    <a:alpha val="100000"/>
                  </a:srgbClr>
                </a:gs>
                <a:gs pos="100000">
                  <a:srgbClr val="1C1517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9B1C2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5200862" y="4005443"/>
            <a:ext cx="871081" cy="419591"/>
            <a:chOff x="0" y="0"/>
            <a:chExt cx="1161442" cy="55945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61492" cy="559531"/>
            </a:xfrm>
            <a:custGeom>
              <a:avLst/>
              <a:gdLst/>
              <a:ahLst/>
              <a:cxnLst/>
              <a:rect r="r" b="b" t="t" l="l"/>
              <a:pathLst>
                <a:path h="559531" w="1161492">
                  <a:moveTo>
                    <a:pt x="280398" y="0"/>
                  </a:moveTo>
                  <a:lnTo>
                    <a:pt x="881097" y="0"/>
                  </a:lnTo>
                  <a:cubicBezTo>
                    <a:pt x="1035990" y="0"/>
                    <a:pt x="1161492" y="125223"/>
                    <a:pt x="1161492" y="279768"/>
                  </a:cubicBezTo>
                  <a:cubicBezTo>
                    <a:pt x="1161492" y="434313"/>
                    <a:pt x="1035990" y="559531"/>
                    <a:pt x="881097" y="559531"/>
                  </a:cubicBezTo>
                  <a:lnTo>
                    <a:pt x="280398" y="559531"/>
                  </a:lnTo>
                  <a:cubicBezTo>
                    <a:pt x="125505" y="559401"/>
                    <a:pt x="0" y="434178"/>
                    <a:pt x="0" y="279768"/>
                  </a:cubicBezTo>
                  <a:cubicBezTo>
                    <a:pt x="0" y="125357"/>
                    <a:pt x="125505" y="0"/>
                    <a:pt x="280398" y="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161442" cy="6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AF7F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Você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5200862" y="4603115"/>
            <a:ext cx="20355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Confirmar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225611" y="5060315"/>
            <a:ext cx="2212727" cy="14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Você confirma seu pedido</a:t>
            </a:r>
            <a:r>
              <a:rPr lang="en-US" sz="20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Depois: Acompanha cada passo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4649450" y="5243036"/>
            <a:ext cx="283094" cy="133350"/>
            <a:chOff x="0" y="0"/>
            <a:chExt cx="377459" cy="177800"/>
          </a:xfrm>
        </p:grpSpPr>
        <p:sp>
          <p:nvSpPr>
            <p:cNvPr name="Freeform 63" id="63" descr="arrow-right"/>
            <p:cNvSpPr/>
            <p:nvPr/>
          </p:nvSpPr>
          <p:spPr>
            <a:xfrm flipH="false" flipV="false" rot="0">
              <a:off x="0" y="0"/>
              <a:ext cx="377459" cy="177800"/>
            </a:xfrm>
            <a:custGeom>
              <a:avLst/>
              <a:gdLst/>
              <a:ahLst/>
              <a:cxnLst/>
              <a:rect r="r" b="b" t="t" l="l"/>
              <a:pathLst>
                <a:path h="177800" w="377459">
                  <a:moveTo>
                    <a:pt x="0" y="0"/>
                  </a:moveTo>
                  <a:lnTo>
                    <a:pt x="377459" y="0"/>
                  </a:lnTo>
                  <a:lnTo>
                    <a:pt x="377459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73" r="0" b="-3073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219200" y="1019175"/>
            <a:ext cx="16325088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02 · DESENHO DE SOLUÇÃO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19200" y="1651549"/>
            <a:ext cx="14716125" cy="149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Como o agente resolve: da conversa ao pedido em cinco passos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19200" y="7532370"/>
            <a:ext cx="9704546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A IA interpreta. O código executa. </a:t>
            </a:r>
            <a:r>
              <a:rPr lang="en-US" sz="3600" b="true">
                <a:solidFill>
                  <a:srgbClr val="FF4458"/>
                </a:solidFill>
                <a:latin typeface="Roboto Bold"/>
                <a:ea typeface="Roboto Bold"/>
                <a:cs typeface="Roboto Bold"/>
                <a:sym typeface="Roboto Bold"/>
              </a:rPr>
              <a:t>Você decide.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4663277" y="5242560"/>
            <a:ext cx="283094" cy="133350"/>
            <a:chOff x="0" y="0"/>
            <a:chExt cx="377459" cy="177800"/>
          </a:xfrm>
        </p:grpSpPr>
        <p:sp>
          <p:nvSpPr>
            <p:cNvPr name="Freeform 68" id="68" descr="arrow-right"/>
            <p:cNvSpPr/>
            <p:nvPr/>
          </p:nvSpPr>
          <p:spPr>
            <a:xfrm flipH="false" flipV="false" rot="0">
              <a:off x="0" y="0"/>
              <a:ext cx="377459" cy="177800"/>
            </a:xfrm>
            <a:custGeom>
              <a:avLst/>
              <a:gdLst/>
              <a:ahLst/>
              <a:cxnLst/>
              <a:rect r="r" b="b" t="t" l="l"/>
              <a:pathLst>
                <a:path h="177800" w="377459">
                  <a:moveTo>
                    <a:pt x="0" y="0"/>
                  </a:moveTo>
                  <a:lnTo>
                    <a:pt x="377459" y="0"/>
                  </a:lnTo>
                  <a:lnTo>
                    <a:pt x="377459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73" r="0" b="-3073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793141" y="5243036"/>
            <a:ext cx="283094" cy="133350"/>
            <a:chOff x="0" y="0"/>
            <a:chExt cx="377459" cy="177800"/>
          </a:xfrm>
        </p:grpSpPr>
        <p:sp>
          <p:nvSpPr>
            <p:cNvPr name="Freeform 70" id="70" descr="arrow-right"/>
            <p:cNvSpPr/>
            <p:nvPr/>
          </p:nvSpPr>
          <p:spPr>
            <a:xfrm flipH="false" flipV="false" rot="0">
              <a:off x="0" y="0"/>
              <a:ext cx="377459" cy="177800"/>
            </a:xfrm>
            <a:custGeom>
              <a:avLst/>
              <a:gdLst/>
              <a:ahLst/>
              <a:cxnLst/>
              <a:rect r="r" b="b" t="t" l="l"/>
              <a:pathLst>
                <a:path h="177800" w="377459">
                  <a:moveTo>
                    <a:pt x="0" y="0"/>
                  </a:moveTo>
                  <a:lnTo>
                    <a:pt x="377459" y="0"/>
                  </a:lnTo>
                  <a:lnTo>
                    <a:pt x="377459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073" r="0" b="-3073"/>
              </a:stretch>
            </a:blip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2242814" y="4603115"/>
            <a:ext cx="20355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Carrinho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242814" y="5060315"/>
            <a:ext cx="2149461" cy="14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Entrega o quanto antes, pagamento e revisão no mesmo lugar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490619" y="4005443"/>
            <a:ext cx="1464123" cy="419591"/>
            <a:chOff x="0" y="0"/>
            <a:chExt cx="1952165" cy="55945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52266" cy="559531"/>
            </a:xfrm>
            <a:custGeom>
              <a:avLst/>
              <a:gdLst/>
              <a:ahLst/>
              <a:cxnLst/>
              <a:rect r="r" b="b" t="t" l="l"/>
              <a:pathLst>
                <a:path h="559531" w="1952266">
                  <a:moveTo>
                    <a:pt x="280398" y="0"/>
                  </a:moveTo>
                  <a:lnTo>
                    <a:pt x="1671874" y="0"/>
                  </a:lnTo>
                  <a:cubicBezTo>
                    <a:pt x="1826767" y="0"/>
                    <a:pt x="1952266" y="125223"/>
                    <a:pt x="1952266" y="279768"/>
                  </a:cubicBezTo>
                  <a:cubicBezTo>
                    <a:pt x="1952266" y="434313"/>
                    <a:pt x="1826767" y="559531"/>
                    <a:pt x="1671874" y="559531"/>
                  </a:cubicBezTo>
                  <a:lnTo>
                    <a:pt x="280398" y="559531"/>
                  </a:lnTo>
                  <a:cubicBezTo>
                    <a:pt x="125505" y="559401"/>
                    <a:pt x="0" y="434178"/>
                    <a:pt x="0" y="279768"/>
                  </a:cubicBezTo>
                  <a:cubicBezTo>
                    <a:pt x="0" y="125357"/>
                    <a:pt x="125505" y="0"/>
                    <a:pt x="280398" y="0"/>
                  </a:cubicBezTo>
                  <a:close/>
                </a:path>
              </a:pathLst>
            </a:custGeom>
            <a:solidFill>
              <a:srgbClr val="B4B0B0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952165" cy="6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A1A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LLM</a:t>
              </a:r>
              <a:r>
                <a:rPr lang="en-US" sz="1800" b="true">
                  <a:solidFill>
                    <a:srgbClr val="1A1A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+MCP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490619" y="4603115"/>
            <a:ext cx="20355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Mercados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490619" y="5060315"/>
            <a:ext cx="2035583" cy="14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Busca cada item nas lojas abertas mais próximas e as compara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6634548" y="4005443"/>
            <a:ext cx="559708" cy="419591"/>
            <a:chOff x="0" y="0"/>
            <a:chExt cx="746277" cy="55945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46290" cy="559531"/>
            </a:xfrm>
            <a:custGeom>
              <a:avLst/>
              <a:gdLst/>
              <a:ahLst/>
              <a:cxnLst/>
              <a:rect r="r" b="b" t="t" l="l"/>
              <a:pathLst>
                <a:path h="559531" w="746290">
                  <a:moveTo>
                    <a:pt x="280398" y="0"/>
                  </a:moveTo>
                  <a:lnTo>
                    <a:pt x="465892" y="0"/>
                  </a:lnTo>
                  <a:cubicBezTo>
                    <a:pt x="620785" y="0"/>
                    <a:pt x="746290" y="125223"/>
                    <a:pt x="746290" y="279768"/>
                  </a:cubicBezTo>
                  <a:cubicBezTo>
                    <a:pt x="746290" y="434313"/>
                    <a:pt x="620785" y="559531"/>
                    <a:pt x="465892" y="559531"/>
                  </a:cubicBezTo>
                  <a:lnTo>
                    <a:pt x="280398" y="559531"/>
                  </a:lnTo>
                  <a:cubicBezTo>
                    <a:pt x="125505" y="559401"/>
                    <a:pt x="0" y="434178"/>
                    <a:pt x="0" y="279768"/>
                  </a:cubicBezTo>
                  <a:cubicBezTo>
                    <a:pt x="0" y="125357"/>
                    <a:pt x="125505" y="0"/>
                    <a:pt x="280398" y="0"/>
                  </a:cubicBezTo>
                  <a:close/>
                </a:path>
              </a:pathLst>
            </a:custGeom>
            <a:solidFill>
              <a:srgbClr val="FFC2C9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746277" cy="60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A1A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LLM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6634548" y="4603115"/>
            <a:ext cx="203558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Lista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634548" y="5060315"/>
            <a:ext cx="2035583" cy="14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Receita escalada, alergias e despensa descontadas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2242814" y="4005443"/>
            <a:ext cx="559708" cy="419591"/>
            <a:chOff x="0" y="0"/>
            <a:chExt cx="746277" cy="55945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46290" cy="559531"/>
            </a:xfrm>
            <a:custGeom>
              <a:avLst/>
              <a:gdLst/>
              <a:ahLst/>
              <a:cxnLst/>
              <a:rect r="r" b="b" t="t" l="l"/>
              <a:pathLst>
                <a:path h="559531" w="746290">
                  <a:moveTo>
                    <a:pt x="280398" y="0"/>
                  </a:moveTo>
                  <a:lnTo>
                    <a:pt x="465892" y="0"/>
                  </a:lnTo>
                  <a:cubicBezTo>
                    <a:pt x="620785" y="0"/>
                    <a:pt x="746290" y="125223"/>
                    <a:pt x="746290" y="279768"/>
                  </a:cubicBezTo>
                  <a:cubicBezTo>
                    <a:pt x="746290" y="434313"/>
                    <a:pt x="620785" y="559531"/>
                    <a:pt x="465892" y="559531"/>
                  </a:cubicBezTo>
                  <a:lnTo>
                    <a:pt x="280398" y="559531"/>
                  </a:lnTo>
                  <a:cubicBezTo>
                    <a:pt x="125505" y="559401"/>
                    <a:pt x="0" y="434178"/>
                    <a:pt x="0" y="279768"/>
                  </a:cubicBezTo>
                  <a:cubicBezTo>
                    <a:pt x="0" y="125357"/>
                    <a:pt x="125505" y="0"/>
                    <a:pt x="280398" y="0"/>
                  </a:cubicBezTo>
                  <a:close/>
                </a:path>
              </a:pathLst>
            </a:custGeom>
            <a:solidFill>
              <a:srgbClr val="FF5A6E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46277" cy="597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sz="1700" b="true">
                  <a:solidFill>
                    <a:srgbClr val="1A1A1C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MCP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29652" y="9211313"/>
            <a:ext cx="1616554" cy="466087"/>
            <a:chOff x="0" y="0"/>
            <a:chExt cx="2155406" cy="621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444" cy="621411"/>
            </a:xfrm>
            <a:custGeom>
              <a:avLst/>
              <a:gdLst/>
              <a:ahLst/>
              <a:cxnLst/>
              <a:rect r="r" b="b" t="t" l="l"/>
              <a:pathLst>
                <a:path h="621411" w="2155444">
                  <a:moveTo>
                    <a:pt x="0" y="304546"/>
                  </a:moveTo>
                  <a:cubicBezTo>
                    <a:pt x="0" y="136398"/>
                    <a:pt x="136398" y="0"/>
                    <a:pt x="304546" y="0"/>
                  </a:cubicBezTo>
                  <a:lnTo>
                    <a:pt x="1850898" y="0"/>
                  </a:lnTo>
                  <a:cubicBezTo>
                    <a:pt x="2019046" y="0"/>
                    <a:pt x="2155444" y="136398"/>
                    <a:pt x="2155444" y="304546"/>
                  </a:cubicBezTo>
                  <a:lnTo>
                    <a:pt x="2155444" y="316865"/>
                  </a:lnTo>
                  <a:cubicBezTo>
                    <a:pt x="2155444" y="485013"/>
                    <a:pt x="2019046" y="621411"/>
                    <a:pt x="1850898" y="621411"/>
                  </a:cubicBezTo>
                  <a:lnTo>
                    <a:pt x="304546" y="621411"/>
                  </a:lnTo>
                  <a:cubicBezTo>
                    <a:pt x="136398" y="621411"/>
                    <a:pt x="0" y="485140"/>
                    <a:pt x="0" y="31686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82" r="1" b="-17588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55406" cy="669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 Interface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0506" y="9211313"/>
            <a:ext cx="1500664" cy="466090"/>
            <a:chOff x="0" y="0"/>
            <a:chExt cx="2000885" cy="621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00885" cy="621416"/>
            </a:xfrm>
            <a:custGeom>
              <a:avLst/>
              <a:gdLst/>
              <a:ahLst/>
              <a:cxnLst/>
              <a:rect r="r" b="b" t="t" l="l"/>
              <a:pathLst>
                <a:path h="621416" w="2000885">
                  <a:moveTo>
                    <a:pt x="0" y="304548"/>
                  </a:moveTo>
                  <a:cubicBezTo>
                    <a:pt x="0" y="136399"/>
                    <a:pt x="136398" y="0"/>
                    <a:pt x="304546" y="0"/>
                  </a:cubicBezTo>
                  <a:lnTo>
                    <a:pt x="1696339" y="0"/>
                  </a:lnTo>
                  <a:cubicBezTo>
                    <a:pt x="1864487" y="0"/>
                    <a:pt x="2000885" y="136399"/>
                    <a:pt x="2000885" y="304548"/>
                  </a:cubicBezTo>
                  <a:lnTo>
                    <a:pt x="2000885" y="316867"/>
                  </a:lnTo>
                  <a:cubicBezTo>
                    <a:pt x="2000885" y="485017"/>
                    <a:pt x="1864487" y="621416"/>
                    <a:pt x="1696339" y="621416"/>
                  </a:cubicBezTo>
                  <a:lnTo>
                    <a:pt x="304546" y="621416"/>
                  </a:lnTo>
                  <a:cubicBezTo>
                    <a:pt x="136398" y="621416"/>
                    <a:pt x="0" y="485144"/>
                    <a:pt x="0" y="316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36" r="0" b="-12742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00885" cy="66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 Impacto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5470" y="9211313"/>
            <a:ext cx="2235041" cy="466087"/>
            <a:chOff x="0" y="0"/>
            <a:chExt cx="2980055" cy="6214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0055" cy="621411"/>
            </a:xfrm>
            <a:custGeom>
              <a:avLst/>
              <a:gdLst/>
              <a:ahLst/>
              <a:cxnLst/>
              <a:rect r="r" b="b" t="t" l="l"/>
              <a:pathLst>
                <a:path h="621411" w="2980055">
                  <a:moveTo>
                    <a:pt x="0" y="304546"/>
                  </a:moveTo>
                  <a:cubicBezTo>
                    <a:pt x="0" y="136398"/>
                    <a:pt x="136398" y="0"/>
                    <a:pt x="304546" y="0"/>
                  </a:cubicBezTo>
                  <a:lnTo>
                    <a:pt x="2675509" y="0"/>
                  </a:lnTo>
                  <a:cubicBezTo>
                    <a:pt x="2843657" y="0"/>
                    <a:pt x="2980055" y="136398"/>
                    <a:pt x="2980055" y="304546"/>
                  </a:cubicBezTo>
                  <a:lnTo>
                    <a:pt x="2980055" y="316865"/>
                  </a:lnTo>
                  <a:cubicBezTo>
                    <a:pt x="2980055" y="485013"/>
                    <a:pt x="2843657" y="621411"/>
                    <a:pt x="2675509" y="621411"/>
                  </a:cubicBezTo>
                  <a:lnTo>
                    <a:pt x="304546" y="621411"/>
                  </a:lnTo>
                  <a:cubicBezTo>
                    <a:pt x="136398" y="621411"/>
                    <a:pt x="0" y="485140"/>
                    <a:pt x="0" y="31686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439" r="0" b="-43446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80055" cy="669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 Feedback MCP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14688" y="9211313"/>
            <a:ext cx="1500664" cy="466090"/>
            <a:chOff x="0" y="0"/>
            <a:chExt cx="2000885" cy="6214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00885" cy="621416"/>
            </a:xfrm>
            <a:custGeom>
              <a:avLst/>
              <a:gdLst/>
              <a:ahLst/>
              <a:cxnLst/>
              <a:rect r="r" b="b" t="t" l="l"/>
              <a:pathLst>
                <a:path h="621416" w="2000885">
                  <a:moveTo>
                    <a:pt x="0" y="304548"/>
                  </a:moveTo>
                  <a:cubicBezTo>
                    <a:pt x="0" y="136399"/>
                    <a:pt x="136398" y="0"/>
                    <a:pt x="304546" y="0"/>
                  </a:cubicBezTo>
                  <a:lnTo>
                    <a:pt x="1696339" y="0"/>
                  </a:lnTo>
                  <a:cubicBezTo>
                    <a:pt x="1864487" y="0"/>
                    <a:pt x="2000885" y="136399"/>
                    <a:pt x="2000885" y="304548"/>
                  </a:cubicBezTo>
                  <a:lnTo>
                    <a:pt x="2000885" y="316867"/>
                  </a:lnTo>
                  <a:cubicBezTo>
                    <a:pt x="2000885" y="485017"/>
                    <a:pt x="1864487" y="621416"/>
                    <a:pt x="1696339" y="621416"/>
                  </a:cubicBezTo>
                  <a:lnTo>
                    <a:pt x="304546" y="621416"/>
                  </a:lnTo>
                  <a:cubicBezTo>
                    <a:pt x="136398" y="621416"/>
                    <a:pt x="0" y="485144"/>
                    <a:pt x="0" y="316868"/>
                  </a:cubicBezTo>
                  <a:close/>
                </a:path>
              </a:pathLst>
            </a:custGeom>
            <a:solidFill>
              <a:srgbClr val="C8101C"/>
            </a:solidFill>
            <a:ln w="19050" cap="sq">
              <a:solidFill>
                <a:srgbClr val="EA1D2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00885" cy="66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 Técnico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6032" y="9211317"/>
            <a:ext cx="1520028" cy="466090"/>
            <a:chOff x="0" y="0"/>
            <a:chExt cx="2026704" cy="6214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6666" cy="621416"/>
            </a:xfrm>
            <a:custGeom>
              <a:avLst/>
              <a:gdLst/>
              <a:ahLst/>
              <a:cxnLst/>
              <a:rect r="r" b="b" t="t" l="l"/>
              <a:pathLst>
                <a:path h="621416" w="2026666">
                  <a:moveTo>
                    <a:pt x="0" y="304548"/>
                  </a:moveTo>
                  <a:cubicBezTo>
                    <a:pt x="0" y="136399"/>
                    <a:pt x="136398" y="0"/>
                    <a:pt x="304546" y="0"/>
                  </a:cubicBezTo>
                  <a:lnTo>
                    <a:pt x="1722120" y="0"/>
                  </a:lnTo>
                  <a:cubicBezTo>
                    <a:pt x="1890268" y="0"/>
                    <a:pt x="2026666" y="136399"/>
                    <a:pt x="2026666" y="304548"/>
                  </a:cubicBezTo>
                  <a:lnTo>
                    <a:pt x="2026666" y="316867"/>
                  </a:lnTo>
                  <a:cubicBezTo>
                    <a:pt x="2026666" y="485017"/>
                    <a:pt x="1890268" y="621416"/>
                    <a:pt x="1722120" y="621416"/>
                  </a:cubicBezTo>
                  <a:lnTo>
                    <a:pt x="304546" y="621416"/>
                  </a:lnTo>
                  <a:cubicBezTo>
                    <a:pt x="136398" y="621416"/>
                    <a:pt x="0" y="485144"/>
                    <a:pt x="0" y="316868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46" r="-1" b="-13551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26704" cy="66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 Negócio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80360" y="9211313"/>
            <a:ext cx="1520028" cy="466087"/>
            <a:chOff x="0" y="0"/>
            <a:chExt cx="2026704" cy="6214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26666" cy="621411"/>
            </a:xfrm>
            <a:custGeom>
              <a:avLst/>
              <a:gdLst/>
              <a:ahLst/>
              <a:cxnLst/>
              <a:rect r="r" b="b" t="t" l="l"/>
              <a:pathLst>
                <a:path h="621411" w="2026666">
                  <a:moveTo>
                    <a:pt x="0" y="304546"/>
                  </a:moveTo>
                  <a:cubicBezTo>
                    <a:pt x="0" y="136398"/>
                    <a:pt x="136398" y="0"/>
                    <a:pt x="304546" y="0"/>
                  </a:cubicBezTo>
                  <a:lnTo>
                    <a:pt x="1722120" y="0"/>
                  </a:lnTo>
                  <a:cubicBezTo>
                    <a:pt x="1890268" y="0"/>
                    <a:pt x="2026666" y="136398"/>
                    <a:pt x="2026666" y="304546"/>
                  </a:cubicBezTo>
                  <a:lnTo>
                    <a:pt x="2026666" y="316865"/>
                  </a:lnTo>
                  <a:cubicBezTo>
                    <a:pt x="2026666" y="485013"/>
                    <a:pt x="1890268" y="621411"/>
                    <a:pt x="1722120" y="621411"/>
                  </a:cubicBezTo>
                  <a:lnTo>
                    <a:pt x="304546" y="621411"/>
                  </a:lnTo>
                  <a:cubicBezTo>
                    <a:pt x="136398" y="621411"/>
                    <a:pt x="0" y="485140"/>
                    <a:pt x="0" y="31686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46" r="-1" b="-13552"/>
              </a:stretch>
            </a:blipFill>
            <a:ln w="19050" cap="sq">
              <a:solidFill>
                <a:srgbClr val="2B2B2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26704" cy="669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682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 Solução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46032" y="2444766"/>
            <a:ext cx="15507796" cy="6565108"/>
          </a:xfrm>
          <a:custGeom>
            <a:avLst/>
            <a:gdLst/>
            <a:ahLst/>
            <a:cxnLst/>
            <a:rect r="r" b="b" t="t" l="l"/>
            <a:pathLst>
              <a:path h="6565108" w="15507796">
                <a:moveTo>
                  <a:pt x="0" y="0"/>
                </a:moveTo>
                <a:lnTo>
                  <a:pt x="15507795" y="0"/>
                </a:lnTo>
                <a:lnTo>
                  <a:pt x="15507795" y="6565109"/>
                </a:lnTo>
                <a:lnTo>
                  <a:pt x="0" y="6565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96" r="0" b="-4288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98626" y="971550"/>
            <a:ext cx="16325088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74">
                <a:solidFill>
                  <a:srgbClr val="F2404C"/>
                </a:solidFill>
                <a:latin typeface="Roboto Bold"/>
                <a:ea typeface="Roboto Bold"/>
                <a:cs typeface="Roboto Bold"/>
                <a:sym typeface="Roboto Bold"/>
              </a:rPr>
              <a:t>03 · DOCUMENTO TÉCNICO RESUMIDO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8626" y="1546860"/>
            <a:ext cx="8442166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b="true" sz="4800" spc="-75">
                <a:solidFill>
                  <a:srgbClr val="F4F1EE"/>
                </a:solidFill>
                <a:latin typeface="Roboto Bold"/>
                <a:ea typeface="Roboto Bold"/>
                <a:cs typeface="Roboto Bold"/>
                <a:sym typeface="Roboto Bold"/>
              </a:rPr>
              <a:t>O que roda por trás da conversa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900">
            <a:off x="1214438" y="4598346"/>
            <a:ext cx="8429635" cy="0"/>
          </a:xfrm>
          <a:prstGeom prst="line">
            <a:avLst/>
          </a:prstGeom>
          <a:ln cap="rnd" w="9525">
            <a:solidFill>
              <a:srgbClr val="2A2A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3900">
            <a:off x="1214438" y="5598471"/>
            <a:ext cx="8429635" cy="0"/>
          </a:xfrm>
          <a:prstGeom prst="line">
            <a:avLst/>
          </a:prstGeom>
          <a:ln cap="rnd" w="9525">
            <a:solidFill>
              <a:srgbClr val="2A2A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19200" y="9185967"/>
            <a:ext cx="1610325" cy="491433"/>
            <a:chOff x="0" y="0"/>
            <a:chExt cx="2147100" cy="6552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7189" cy="655320"/>
            </a:xfrm>
            <a:custGeom>
              <a:avLst/>
              <a:gdLst/>
              <a:ahLst/>
              <a:cxnLst/>
              <a:rect r="r" b="b" t="t" l="l"/>
              <a:pathLst>
                <a:path h="655320" w="214718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819529" y="0"/>
                  </a:lnTo>
                  <a:cubicBezTo>
                    <a:pt x="2000504" y="0"/>
                    <a:pt x="2147189" y="146685"/>
                    <a:pt x="2147189" y="327660"/>
                  </a:cubicBezTo>
                  <a:cubicBezTo>
                    <a:pt x="2147189" y="508635"/>
                    <a:pt x="2000504" y="655320"/>
                    <a:pt x="181952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471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 Negócio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43825" y="9185967"/>
            <a:ext cx="1586065" cy="491433"/>
            <a:chOff x="0" y="0"/>
            <a:chExt cx="2114753" cy="6552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48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148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87144" y="0"/>
                  </a:lnTo>
                  <a:cubicBezTo>
                    <a:pt x="1968119" y="0"/>
                    <a:pt x="2114804" y="146685"/>
                    <a:pt x="2114804" y="327660"/>
                  </a:cubicBezTo>
                  <a:cubicBezTo>
                    <a:pt x="2114804" y="508635"/>
                    <a:pt x="1968119" y="655320"/>
                    <a:pt x="17871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147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 Solução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44180" y="9185967"/>
            <a:ext cx="1562100" cy="491433"/>
            <a:chOff x="0" y="0"/>
            <a:chExt cx="2082800" cy="6552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2800" cy="655320"/>
            </a:xfrm>
            <a:custGeom>
              <a:avLst/>
              <a:gdLst/>
              <a:ahLst/>
              <a:cxnLst/>
              <a:rect r="r" b="b" t="t" l="l"/>
              <a:pathLst>
                <a:path h="655320" w="2082800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55140" y="0"/>
                  </a:lnTo>
                  <a:cubicBezTo>
                    <a:pt x="1936115" y="0"/>
                    <a:pt x="2082800" y="146685"/>
                    <a:pt x="2082800" y="327660"/>
                  </a:cubicBezTo>
                  <a:cubicBezTo>
                    <a:pt x="2082800" y="508635"/>
                    <a:pt x="1936115" y="655320"/>
                    <a:pt x="1755140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0828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 Técnico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20580" y="9195492"/>
            <a:ext cx="1666580" cy="472383"/>
            <a:chOff x="0" y="0"/>
            <a:chExt cx="2222106" cy="6298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2119" cy="629920"/>
            </a:xfrm>
            <a:custGeom>
              <a:avLst/>
              <a:gdLst/>
              <a:ahLst/>
              <a:cxnLst/>
              <a:rect r="r" b="b" t="t" l="l"/>
              <a:pathLst>
                <a:path h="629920" w="2222119">
                  <a:moveTo>
                    <a:pt x="0" y="314960"/>
                  </a:moveTo>
                  <a:cubicBezTo>
                    <a:pt x="0" y="140970"/>
                    <a:pt x="140970" y="0"/>
                    <a:pt x="314960" y="0"/>
                  </a:cubicBezTo>
                  <a:lnTo>
                    <a:pt x="1907159" y="0"/>
                  </a:lnTo>
                  <a:cubicBezTo>
                    <a:pt x="2081022" y="0"/>
                    <a:pt x="2222119" y="140970"/>
                    <a:pt x="2222119" y="314960"/>
                  </a:cubicBezTo>
                  <a:cubicBezTo>
                    <a:pt x="2222119" y="488950"/>
                    <a:pt x="2081149" y="629920"/>
                    <a:pt x="1907159" y="629920"/>
                  </a:cubicBezTo>
                  <a:lnTo>
                    <a:pt x="314960" y="629920"/>
                  </a:lnTo>
                  <a:cubicBezTo>
                    <a:pt x="140970" y="629793"/>
                    <a:pt x="0" y="488823"/>
                    <a:pt x="0" y="3149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22106" cy="67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AF7F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 Interface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01460" y="9185967"/>
            <a:ext cx="1595590" cy="491433"/>
            <a:chOff x="0" y="0"/>
            <a:chExt cx="2127453" cy="6552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75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275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99844" y="0"/>
                  </a:lnTo>
                  <a:cubicBezTo>
                    <a:pt x="1980819" y="0"/>
                    <a:pt x="2127504" y="146685"/>
                    <a:pt x="2127504" y="327660"/>
                  </a:cubicBezTo>
                  <a:cubicBezTo>
                    <a:pt x="2127504" y="508635"/>
                    <a:pt x="1980819" y="655320"/>
                    <a:pt x="17998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274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 Impacto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11350" y="9185967"/>
            <a:ext cx="2302078" cy="491433"/>
            <a:chOff x="0" y="0"/>
            <a:chExt cx="3069438" cy="6552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69463" cy="655320"/>
            </a:xfrm>
            <a:custGeom>
              <a:avLst/>
              <a:gdLst/>
              <a:ahLst/>
              <a:cxnLst/>
              <a:rect r="r" b="b" t="t" l="l"/>
              <a:pathLst>
                <a:path h="655320" w="3069463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2741803" y="0"/>
                  </a:lnTo>
                  <a:cubicBezTo>
                    <a:pt x="2922778" y="0"/>
                    <a:pt x="3069463" y="146685"/>
                    <a:pt x="3069463" y="327660"/>
                  </a:cubicBezTo>
                  <a:cubicBezTo>
                    <a:pt x="3069463" y="508635"/>
                    <a:pt x="2922778" y="655320"/>
                    <a:pt x="2741803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069438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 Feedback MCP</a:t>
              </a:r>
            </a:p>
          </p:txBody>
        </p:sp>
      </p:grpSp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284878" y="195498"/>
            <a:ext cx="4913388" cy="9826776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219200" y="1019175"/>
            <a:ext cx="8672703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04 · INTERFACE VISUAL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200" y="1651549"/>
            <a:ext cx="8672703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A </a:t>
            </a:r>
            <a:r>
              <a:rPr lang="en-US" sz="54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feature no </a:t>
            </a:r>
          </a:p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aplicativo do iFood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9200" y="3760146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81200" y="3862540"/>
            <a:ext cx="7887843" cy="44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>
                <a:solidFill>
                  <a:srgbClr val="E6E0DE"/>
                </a:solidFill>
                <a:latin typeface="Roboto"/>
                <a:ea typeface="Roboto"/>
                <a:cs typeface="Roboto"/>
                <a:sym typeface="Roboto"/>
              </a:rPr>
              <a:t>O pedido em linguagem natural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9200" y="4760271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81200" y="4862665"/>
            <a:ext cx="7887843" cy="44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>
                <a:solidFill>
                  <a:srgbClr val="E6E0DE"/>
                </a:solidFill>
                <a:latin typeface="Roboto"/>
                <a:ea typeface="Roboto"/>
                <a:cs typeface="Roboto"/>
                <a:sym typeface="Roboto"/>
              </a:rPr>
              <a:t>A lista e a comparação entre mercados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9200" y="5760396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81200" y="5862790"/>
            <a:ext cx="7887843" cy="44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7"/>
              </a:lnSpc>
            </a:pPr>
            <a:r>
              <a:rPr lang="en-US" sz="2649">
                <a:solidFill>
                  <a:srgbClr val="E6E0DE"/>
                </a:solidFill>
                <a:latin typeface="Roboto"/>
                <a:ea typeface="Roboto"/>
                <a:cs typeface="Roboto"/>
                <a:sym typeface="Roboto"/>
              </a:rPr>
              <a:t>O carrinho pronto e o botão </a:t>
            </a:r>
            <a:r>
              <a:rPr lang="en-US" sz="264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Confirmar pedido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19175"/>
            <a:ext cx="16325088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05 · IMPACTO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651549"/>
            <a:ext cx="6530499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O que o Ifood ganha?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815380"/>
            <a:ext cx="7810500" cy="2783234"/>
            <a:chOff x="0" y="0"/>
            <a:chExt cx="10414000" cy="37109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0" cy="3711067"/>
            </a:xfrm>
            <a:custGeom>
              <a:avLst/>
              <a:gdLst/>
              <a:ahLst/>
              <a:cxnLst/>
              <a:rect r="r" b="b" t="t" l="l"/>
              <a:pathLst>
                <a:path h="3711067" w="10414000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lnTo>
                    <a:pt x="10165461" y="0"/>
                  </a:lnTo>
                  <a:cubicBezTo>
                    <a:pt x="10302748" y="0"/>
                    <a:pt x="10414000" y="111252"/>
                    <a:pt x="10414000" y="248539"/>
                  </a:cubicBezTo>
                  <a:lnTo>
                    <a:pt x="10414000" y="3462528"/>
                  </a:lnTo>
                  <a:cubicBezTo>
                    <a:pt x="10414000" y="3599815"/>
                    <a:pt x="10302748" y="3711067"/>
                    <a:pt x="10165461" y="3711067"/>
                  </a:cubicBezTo>
                  <a:lnTo>
                    <a:pt x="248539" y="3711067"/>
                  </a:lnTo>
                  <a:cubicBezTo>
                    <a:pt x="111252" y="3710940"/>
                    <a:pt x="0" y="3599688"/>
                    <a:pt x="0" y="3462528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9725" y="3158280"/>
            <a:ext cx="724033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Expansão</a:t>
            </a:r>
            <a:r>
              <a:rPr lang="en-US" sz="32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 de público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9725" y="3655371"/>
            <a:ext cx="7240334" cy="93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Trazer a terceira idade, pessoas que ainda não têm o hábito do delivery de mercado.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58300" y="2815380"/>
            <a:ext cx="7810500" cy="2783234"/>
            <a:chOff x="0" y="0"/>
            <a:chExt cx="10414000" cy="3710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711067"/>
            </a:xfrm>
            <a:custGeom>
              <a:avLst/>
              <a:gdLst/>
              <a:ahLst/>
              <a:cxnLst/>
              <a:rect r="r" b="b" t="t" l="l"/>
              <a:pathLst>
                <a:path h="3711067" w="10414000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lnTo>
                    <a:pt x="10165461" y="0"/>
                  </a:lnTo>
                  <a:cubicBezTo>
                    <a:pt x="10302748" y="0"/>
                    <a:pt x="10414000" y="111252"/>
                    <a:pt x="10414000" y="248539"/>
                  </a:cubicBezTo>
                  <a:lnTo>
                    <a:pt x="10414000" y="3462528"/>
                  </a:lnTo>
                  <a:cubicBezTo>
                    <a:pt x="10414000" y="3599815"/>
                    <a:pt x="10302748" y="3711067"/>
                    <a:pt x="10165461" y="3711067"/>
                  </a:cubicBezTo>
                  <a:lnTo>
                    <a:pt x="248539" y="3711067"/>
                  </a:lnTo>
                  <a:cubicBezTo>
                    <a:pt x="111252" y="3710940"/>
                    <a:pt x="0" y="3599688"/>
                    <a:pt x="0" y="3462528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648825" y="3158280"/>
            <a:ext cx="724033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Aumento do </a:t>
            </a:r>
            <a:r>
              <a:rPr lang="en-US" sz="3299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ticket médio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48825" y="3655371"/>
            <a:ext cx="7240334" cy="139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FAF7F5"/>
                </a:solidFill>
                <a:latin typeface="Roboto"/>
                <a:ea typeface="Roboto"/>
                <a:cs typeface="Roboto"/>
                <a:sym typeface="Roboto"/>
              </a:rPr>
              <a:t>Em vez de entrar no iFood Mercado só para comprar “o leite que faltou”, a pessoa compra a cesta completa de uma refeição.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9200" y="5827214"/>
            <a:ext cx="7810500" cy="2783386"/>
            <a:chOff x="0" y="0"/>
            <a:chExt cx="10414000" cy="37111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14000" cy="3711194"/>
            </a:xfrm>
            <a:custGeom>
              <a:avLst/>
              <a:gdLst/>
              <a:ahLst/>
              <a:cxnLst/>
              <a:rect r="r" b="b" t="t" l="l"/>
              <a:pathLst>
                <a:path h="3711194" w="10414000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lnTo>
                    <a:pt x="10165461" y="0"/>
                  </a:lnTo>
                  <a:cubicBezTo>
                    <a:pt x="10302748" y="0"/>
                    <a:pt x="10414000" y="111252"/>
                    <a:pt x="10414000" y="248539"/>
                  </a:cubicBezTo>
                  <a:lnTo>
                    <a:pt x="10414000" y="3462655"/>
                  </a:lnTo>
                  <a:cubicBezTo>
                    <a:pt x="10414000" y="3599942"/>
                    <a:pt x="10302748" y="3711194"/>
                    <a:pt x="10165461" y="3711194"/>
                  </a:cubicBezTo>
                  <a:lnTo>
                    <a:pt x="248539" y="3711194"/>
                  </a:lnTo>
                  <a:cubicBezTo>
                    <a:pt x="111252" y="3711194"/>
                    <a:pt x="0" y="3599942"/>
                    <a:pt x="0" y="3462655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609725" y="6170114"/>
            <a:ext cx="724033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Aumento da </a:t>
            </a:r>
            <a:r>
              <a:rPr lang="en-US" sz="3299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recorrência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9725" y="6667205"/>
            <a:ext cx="7240334" cy="139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iFood deixa de ser só o app da “pizza de sexta-feira” e vira o parceiro de planejamento alimentar da semana.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8300" y="5827214"/>
            <a:ext cx="7810500" cy="2783386"/>
            <a:chOff x="0" y="0"/>
            <a:chExt cx="10414000" cy="37111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14000" cy="3711194"/>
            </a:xfrm>
            <a:custGeom>
              <a:avLst/>
              <a:gdLst/>
              <a:ahLst/>
              <a:cxnLst/>
              <a:rect r="r" b="b" t="t" l="l"/>
              <a:pathLst>
                <a:path h="3711194" w="10414000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lnTo>
                    <a:pt x="10165461" y="0"/>
                  </a:lnTo>
                  <a:cubicBezTo>
                    <a:pt x="10302748" y="0"/>
                    <a:pt x="10414000" y="111252"/>
                    <a:pt x="10414000" y="248539"/>
                  </a:cubicBezTo>
                  <a:lnTo>
                    <a:pt x="10414000" y="3462655"/>
                  </a:lnTo>
                  <a:cubicBezTo>
                    <a:pt x="10414000" y="3599942"/>
                    <a:pt x="10302748" y="3711194"/>
                    <a:pt x="10165461" y="3711194"/>
                  </a:cubicBezTo>
                  <a:lnTo>
                    <a:pt x="248539" y="3711194"/>
                  </a:lnTo>
                  <a:cubicBezTo>
                    <a:pt x="111252" y="3711194"/>
                    <a:pt x="0" y="3599942"/>
                    <a:pt x="0" y="346265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C1216">
                    <a:alpha val="100000"/>
                  </a:srgbClr>
                </a:gs>
                <a:gs pos="100000">
                  <a:srgbClr val="1C1517">
                    <a:alpha val="100000"/>
                  </a:srgbClr>
                </a:gs>
              </a:gsLst>
              <a:lin ang="5400000"/>
            </a:gradFill>
            <a:ln w="9525" cap="sq">
              <a:solidFill>
                <a:srgbClr val="EF405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648825" y="6170114"/>
            <a:ext cx="724033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Abertura </a:t>
            </a:r>
            <a:r>
              <a:rPr lang="en-US" sz="3299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para publicidade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8825" y="6667205"/>
            <a:ext cx="7240334" cy="186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6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Marcas podem patrocinar receitas do iFood. Pediu estrogonofe? “Adicionei o creme de leite da Nestlé que está em promoção no mercado X, tudo bem?”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19200" y="9185967"/>
            <a:ext cx="1610325" cy="491433"/>
            <a:chOff x="0" y="0"/>
            <a:chExt cx="2147100" cy="6552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7189" cy="655320"/>
            </a:xfrm>
            <a:custGeom>
              <a:avLst/>
              <a:gdLst/>
              <a:ahLst/>
              <a:cxnLst/>
              <a:rect r="r" b="b" t="t" l="l"/>
              <a:pathLst>
                <a:path h="655320" w="214718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819529" y="0"/>
                  </a:lnTo>
                  <a:cubicBezTo>
                    <a:pt x="2000504" y="0"/>
                    <a:pt x="2147189" y="146685"/>
                    <a:pt x="2147189" y="327660"/>
                  </a:cubicBezTo>
                  <a:cubicBezTo>
                    <a:pt x="2147189" y="508635"/>
                    <a:pt x="2000504" y="655320"/>
                    <a:pt x="181952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471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 Negócio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943825" y="9185967"/>
            <a:ext cx="1586065" cy="491433"/>
            <a:chOff x="0" y="0"/>
            <a:chExt cx="2114753" cy="6552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48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148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87144" y="0"/>
                  </a:lnTo>
                  <a:cubicBezTo>
                    <a:pt x="1968119" y="0"/>
                    <a:pt x="2114804" y="146685"/>
                    <a:pt x="2114804" y="327660"/>
                  </a:cubicBezTo>
                  <a:cubicBezTo>
                    <a:pt x="2114804" y="508635"/>
                    <a:pt x="1968119" y="655320"/>
                    <a:pt x="17871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147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 Solução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644180" y="9185967"/>
            <a:ext cx="1562100" cy="491433"/>
            <a:chOff x="0" y="0"/>
            <a:chExt cx="2082800" cy="6552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82800" cy="655320"/>
            </a:xfrm>
            <a:custGeom>
              <a:avLst/>
              <a:gdLst/>
              <a:ahLst/>
              <a:cxnLst/>
              <a:rect r="r" b="b" t="t" l="l"/>
              <a:pathLst>
                <a:path h="655320" w="2082800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55140" y="0"/>
                  </a:lnTo>
                  <a:cubicBezTo>
                    <a:pt x="1936115" y="0"/>
                    <a:pt x="2082800" y="146685"/>
                    <a:pt x="2082800" y="327660"/>
                  </a:cubicBezTo>
                  <a:cubicBezTo>
                    <a:pt x="2082800" y="508635"/>
                    <a:pt x="1936115" y="655320"/>
                    <a:pt x="1755140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828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 Técnico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20580" y="9185967"/>
            <a:ext cx="1685630" cy="491433"/>
            <a:chOff x="0" y="0"/>
            <a:chExt cx="2247506" cy="6552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47519" cy="655320"/>
            </a:xfrm>
            <a:custGeom>
              <a:avLst/>
              <a:gdLst/>
              <a:ahLst/>
              <a:cxnLst/>
              <a:rect r="r" b="b" t="t" l="l"/>
              <a:pathLst>
                <a:path h="655320" w="224751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919859" y="0"/>
                  </a:lnTo>
                  <a:cubicBezTo>
                    <a:pt x="2100834" y="0"/>
                    <a:pt x="2247519" y="146685"/>
                    <a:pt x="2247519" y="327660"/>
                  </a:cubicBezTo>
                  <a:cubicBezTo>
                    <a:pt x="2247519" y="508635"/>
                    <a:pt x="2100834" y="655320"/>
                    <a:pt x="191985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247506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 Interface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20510" y="9195492"/>
            <a:ext cx="1576540" cy="472383"/>
            <a:chOff x="0" y="0"/>
            <a:chExt cx="2102053" cy="6298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02104" cy="629920"/>
            </a:xfrm>
            <a:custGeom>
              <a:avLst/>
              <a:gdLst/>
              <a:ahLst/>
              <a:cxnLst/>
              <a:rect r="r" b="b" t="t" l="l"/>
              <a:pathLst>
                <a:path h="629920" w="2102104">
                  <a:moveTo>
                    <a:pt x="0" y="314960"/>
                  </a:moveTo>
                  <a:cubicBezTo>
                    <a:pt x="0" y="140970"/>
                    <a:pt x="140970" y="0"/>
                    <a:pt x="314960" y="0"/>
                  </a:cubicBezTo>
                  <a:lnTo>
                    <a:pt x="1787144" y="0"/>
                  </a:lnTo>
                  <a:cubicBezTo>
                    <a:pt x="1961007" y="0"/>
                    <a:pt x="2102104" y="140970"/>
                    <a:pt x="2102104" y="314960"/>
                  </a:cubicBezTo>
                  <a:cubicBezTo>
                    <a:pt x="2102104" y="488950"/>
                    <a:pt x="1961134" y="629920"/>
                    <a:pt x="1787144" y="629920"/>
                  </a:cubicBezTo>
                  <a:lnTo>
                    <a:pt x="314960" y="629920"/>
                  </a:lnTo>
                  <a:cubicBezTo>
                    <a:pt x="140970" y="629793"/>
                    <a:pt x="0" y="488823"/>
                    <a:pt x="0" y="3149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02053" cy="67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AF7F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 Impacto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11350" y="9185967"/>
            <a:ext cx="2302078" cy="491433"/>
            <a:chOff x="0" y="0"/>
            <a:chExt cx="3069438" cy="6552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69463" cy="655320"/>
            </a:xfrm>
            <a:custGeom>
              <a:avLst/>
              <a:gdLst/>
              <a:ahLst/>
              <a:cxnLst/>
              <a:rect r="r" b="b" t="t" l="l"/>
              <a:pathLst>
                <a:path h="655320" w="3069463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2741803" y="0"/>
                  </a:lnTo>
                  <a:cubicBezTo>
                    <a:pt x="2922778" y="0"/>
                    <a:pt x="3069463" y="146685"/>
                    <a:pt x="3069463" y="327660"/>
                  </a:cubicBezTo>
                  <a:cubicBezTo>
                    <a:pt x="3069463" y="508635"/>
                    <a:pt x="2922778" y="655320"/>
                    <a:pt x="2741803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069438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 Feedback MCP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866775"/>
            <a:ext cx="16325088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 spc="150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06 · FEEDBACK SOBRE OS MCPS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441999"/>
            <a:ext cx="163250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O que doeu de verdade usando o MCP do iFood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4000" y="2223049"/>
            <a:ext cx="4120515" cy="40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FFB3BD"/>
                </a:solidFill>
                <a:latin typeface="Roboto Bold"/>
                <a:ea typeface="Roboto Bold"/>
                <a:cs typeface="Roboto Bold"/>
                <a:sym typeface="Roboto Bold"/>
              </a:rPr>
              <a:t>DIFICULDADE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29300" y="2223049"/>
            <a:ext cx="6828282" cy="40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FFB3BD"/>
                </a:solidFill>
                <a:latin typeface="Roboto Bold"/>
                <a:ea typeface="Roboto Bold"/>
                <a:cs typeface="Roboto Bold"/>
                <a:sym typeface="Roboto Bold"/>
              </a:rPr>
              <a:t>O QUE ACONTECEU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63500" y="2223049"/>
            <a:ext cx="4120515" cy="40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FFB3BD"/>
                </a:solidFill>
                <a:latin typeface="Roboto Bold"/>
                <a:ea typeface="Roboto Bold"/>
                <a:cs typeface="Roboto Bold"/>
                <a:sym typeface="Roboto Bold"/>
              </a:rPr>
              <a:t>SUGESTÃO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9200" y="2743048"/>
            <a:ext cx="15849600" cy="1363866"/>
            <a:chOff x="0" y="0"/>
            <a:chExt cx="21132800" cy="1818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32800" cy="1818513"/>
            </a:xfrm>
            <a:custGeom>
              <a:avLst/>
              <a:gdLst/>
              <a:ahLst/>
              <a:cxnLst/>
              <a:rect r="r" b="b" t="t" l="l"/>
              <a:pathLst>
                <a:path h="1818513" w="21132800">
                  <a:moveTo>
                    <a:pt x="0" y="249428"/>
                  </a:moveTo>
                  <a:cubicBezTo>
                    <a:pt x="0" y="111633"/>
                    <a:pt x="111633" y="0"/>
                    <a:pt x="249428" y="0"/>
                  </a:cubicBezTo>
                  <a:lnTo>
                    <a:pt x="20883372" y="0"/>
                  </a:lnTo>
                  <a:cubicBezTo>
                    <a:pt x="21021167" y="0"/>
                    <a:pt x="21132800" y="111633"/>
                    <a:pt x="21132800" y="249428"/>
                  </a:cubicBezTo>
                  <a:lnTo>
                    <a:pt x="21132800" y="1569085"/>
                  </a:lnTo>
                  <a:cubicBezTo>
                    <a:pt x="21132800" y="1706880"/>
                    <a:pt x="21021167" y="1818513"/>
                    <a:pt x="20883372" y="1818513"/>
                  </a:cubicBezTo>
                  <a:lnTo>
                    <a:pt x="249428" y="1818513"/>
                  </a:lnTo>
                  <a:cubicBezTo>
                    <a:pt x="111633" y="1818513"/>
                    <a:pt x="0" y="1706880"/>
                    <a:pt x="0" y="1569085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33525" y="3082080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3125" y="3039218"/>
            <a:ext cx="349262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Manipulação de endereços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38825" y="3057373"/>
            <a:ext cx="680866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Não há como remover ou alterar endereços pelo MCP, o que limitou as funcionalidades do agente.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753975" y="2943073"/>
            <a:ext cx="4000500" cy="963816"/>
            <a:chOff x="0" y="0"/>
            <a:chExt cx="5334000" cy="12850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34000" cy="1285113"/>
            </a:xfrm>
            <a:custGeom>
              <a:avLst/>
              <a:gdLst/>
              <a:ahLst/>
              <a:cxnLst/>
              <a:rect r="r" b="b" t="t" l="l"/>
              <a:pathLst>
                <a:path h="1285113" w="5334000">
                  <a:moveTo>
                    <a:pt x="0" y="173228"/>
                  </a:moveTo>
                  <a:cubicBezTo>
                    <a:pt x="0" y="77470"/>
                    <a:pt x="77470" y="0"/>
                    <a:pt x="173228" y="0"/>
                  </a:cubicBezTo>
                  <a:lnTo>
                    <a:pt x="5160772" y="0"/>
                  </a:lnTo>
                  <a:cubicBezTo>
                    <a:pt x="5256530" y="0"/>
                    <a:pt x="5334000" y="77470"/>
                    <a:pt x="5334000" y="173228"/>
                  </a:cubicBezTo>
                  <a:lnTo>
                    <a:pt x="5334000" y="1111885"/>
                  </a:lnTo>
                  <a:cubicBezTo>
                    <a:pt x="5334000" y="1207516"/>
                    <a:pt x="5256530" y="1285113"/>
                    <a:pt x="5160772" y="1285113"/>
                  </a:cubicBezTo>
                  <a:lnTo>
                    <a:pt x="173228" y="1285113"/>
                  </a:lnTo>
                  <a:cubicBezTo>
                    <a:pt x="77470" y="1285113"/>
                    <a:pt x="0" y="1207516"/>
                    <a:pt x="0" y="1111885"/>
                  </a:cubicBezTo>
                  <a:close/>
                </a:path>
              </a:pathLst>
            </a:custGeom>
            <a:solidFill>
              <a:srgbClr val="2A0F14"/>
            </a:solidFill>
            <a:ln w="9525" cap="sq">
              <a:solidFill>
                <a:srgbClr val="9B1C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334000" cy="133271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4F0EE"/>
                  </a:solidFill>
                  <a:latin typeface="Roboto"/>
                  <a:ea typeface="Roboto"/>
                  <a:cs typeface="Roboto"/>
                  <a:sym typeface="Roboto"/>
                </a:rPr>
                <a:t>Funções para remover e alterar endereços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9200" y="4259313"/>
            <a:ext cx="15849600" cy="1679972"/>
            <a:chOff x="0" y="0"/>
            <a:chExt cx="21132800" cy="22399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32800" cy="2239899"/>
            </a:xfrm>
            <a:custGeom>
              <a:avLst/>
              <a:gdLst/>
              <a:ahLst/>
              <a:cxnLst/>
              <a:rect r="r" b="b" t="t" l="l"/>
              <a:pathLst>
                <a:path h="2239899" w="2113280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20883753" y="0"/>
                  </a:lnTo>
                  <a:cubicBezTo>
                    <a:pt x="21021294" y="0"/>
                    <a:pt x="21132800" y="111506"/>
                    <a:pt x="21132800" y="249047"/>
                  </a:cubicBezTo>
                  <a:lnTo>
                    <a:pt x="21132800" y="1990852"/>
                  </a:lnTo>
                  <a:cubicBezTo>
                    <a:pt x="21132800" y="2128393"/>
                    <a:pt x="21021294" y="2239899"/>
                    <a:pt x="20883753" y="2239899"/>
                  </a:cubicBezTo>
                  <a:lnTo>
                    <a:pt x="249047" y="2239899"/>
                  </a:lnTo>
                  <a:cubicBezTo>
                    <a:pt x="111506" y="2239899"/>
                    <a:pt x="0" y="2128393"/>
                    <a:pt x="0" y="1990852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33525" y="4756394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43125" y="4713532"/>
            <a:ext cx="349262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Formatos de resposta não documentados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38825" y="4411713"/>
            <a:ext cx="6808660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Carrinho, formas de pagamento, cupons e pedido não têm schema de saída documentado. Tivemos que escrever um leitor tolerante que procura chaves em qualquer nível (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total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totalAmount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totalPrice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…).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753975" y="4777388"/>
            <a:ext cx="4000500" cy="643833"/>
            <a:chOff x="0" y="0"/>
            <a:chExt cx="5334000" cy="8584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858393"/>
            </a:xfrm>
            <a:custGeom>
              <a:avLst/>
              <a:gdLst/>
              <a:ahLst/>
              <a:cxnLst/>
              <a:rect r="r" b="b" t="t" l="l"/>
              <a:pathLst>
                <a:path h="858393" w="5334000">
                  <a:moveTo>
                    <a:pt x="0" y="173990"/>
                  </a:moveTo>
                  <a:cubicBezTo>
                    <a:pt x="0" y="77851"/>
                    <a:pt x="77851" y="0"/>
                    <a:pt x="173990" y="0"/>
                  </a:cubicBezTo>
                  <a:lnTo>
                    <a:pt x="5160010" y="0"/>
                  </a:lnTo>
                  <a:cubicBezTo>
                    <a:pt x="5256149" y="0"/>
                    <a:pt x="5334000" y="77851"/>
                    <a:pt x="5334000" y="173990"/>
                  </a:cubicBezTo>
                  <a:lnTo>
                    <a:pt x="5334000" y="684403"/>
                  </a:lnTo>
                  <a:cubicBezTo>
                    <a:pt x="5334000" y="780542"/>
                    <a:pt x="5256149" y="858393"/>
                    <a:pt x="5160010" y="858393"/>
                  </a:cubicBezTo>
                  <a:lnTo>
                    <a:pt x="173990" y="858393"/>
                  </a:lnTo>
                  <a:cubicBezTo>
                    <a:pt x="77851" y="858393"/>
                    <a:pt x="0" y="780542"/>
                    <a:pt x="0" y="684403"/>
                  </a:cubicBezTo>
                  <a:close/>
                </a:path>
              </a:pathLst>
            </a:custGeom>
            <a:solidFill>
              <a:srgbClr val="2A0F14"/>
            </a:solidFill>
            <a:ln w="9525" cap="sq">
              <a:solidFill>
                <a:srgbClr val="9B1C2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334000" cy="90606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4F0EE"/>
                  </a:solidFill>
                  <a:latin typeface="Roboto"/>
                  <a:ea typeface="Roboto"/>
                  <a:cs typeface="Roboto"/>
                  <a:sym typeface="Roboto"/>
                </a:rPr>
                <a:t>Um </a:t>
              </a:r>
              <a:r>
                <a:rPr lang="en-US" sz="1800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outputSchema</a:t>
              </a:r>
              <a:r>
                <a:rPr lang="en-US" sz="1800">
                  <a:solidFill>
                    <a:srgbClr val="F4F0EE"/>
                  </a:solidFill>
                  <a:latin typeface="Roboto"/>
                  <a:ea typeface="Roboto"/>
                  <a:cs typeface="Roboto"/>
                  <a:sym typeface="Roboto"/>
                </a:rPr>
                <a:t> por ferramenta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9200" y="6091685"/>
            <a:ext cx="15849600" cy="2510438"/>
            <a:chOff x="0" y="0"/>
            <a:chExt cx="21132800" cy="3347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32800" cy="3347212"/>
            </a:xfrm>
            <a:custGeom>
              <a:avLst/>
              <a:gdLst/>
              <a:ahLst/>
              <a:cxnLst/>
              <a:rect r="r" b="b" t="t" l="l"/>
              <a:pathLst>
                <a:path h="3347212" w="21132800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lnTo>
                    <a:pt x="20884262" y="0"/>
                  </a:lnTo>
                  <a:cubicBezTo>
                    <a:pt x="21021548" y="0"/>
                    <a:pt x="21132800" y="111252"/>
                    <a:pt x="21132800" y="248539"/>
                  </a:cubicBezTo>
                  <a:lnTo>
                    <a:pt x="21132800" y="3098673"/>
                  </a:lnTo>
                  <a:cubicBezTo>
                    <a:pt x="21132800" y="3235960"/>
                    <a:pt x="21021548" y="3347212"/>
                    <a:pt x="20884262" y="3347212"/>
                  </a:cubicBezTo>
                  <a:lnTo>
                    <a:pt x="248539" y="3347212"/>
                  </a:lnTo>
                  <a:cubicBezTo>
                    <a:pt x="111252" y="3347212"/>
                    <a:pt x="0" y="3235960"/>
                    <a:pt x="0" y="3098673"/>
                  </a:cubicBezTo>
                  <a:close/>
                </a:path>
              </a:pathLst>
            </a:custGeom>
            <a:solidFill>
              <a:srgbClr val="1A1A1C"/>
            </a:solidFill>
            <a:ln w="9525" cap="sq">
              <a:solidFill>
                <a:srgbClr val="2A2A2E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533525" y="7003999"/>
            <a:ext cx="5334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EF4058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43125" y="7139730"/>
            <a:ext cx="3492627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Carrinho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38825" y="6244085"/>
            <a:ext cx="680866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createCart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 não é idempotente e não existe 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listCarts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deleteCart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: se o agente perde o 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cartId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, não há como recuperar ou limpar o carrinho aberto.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38825" y="7299274"/>
            <a:ext cx="680866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• Não há cancelamento de pedido.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38825" y="7714507"/>
            <a:ext cx="6808660" cy="72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setCartPayment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 exige </a:t>
            </a:r>
            <a:r>
              <a:rPr lang="en-US" sz="1800">
                <a:solidFill>
                  <a:srgbClr val="FFB3BD"/>
                </a:solidFill>
                <a:latin typeface="Roboto"/>
                <a:ea typeface="Roboto"/>
                <a:cs typeface="Roboto"/>
                <a:sym typeface="Roboto"/>
              </a:rPr>
              <a:t>cardTokenId</a:t>
            </a:r>
            <a:r>
              <a:rPr lang="en-US" sz="1800">
                <a:solidFill>
                  <a:srgbClr val="C4BEBC"/>
                </a:solidFill>
                <a:latin typeface="Roboto"/>
                <a:ea typeface="Roboto"/>
                <a:cs typeface="Roboto"/>
                <a:sym typeface="Roboto"/>
              </a:rPr>
              <a:t>: não dá para pagar com cartão não salvo.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753975" y="6545018"/>
            <a:ext cx="4000500" cy="1603772"/>
            <a:chOff x="0" y="0"/>
            <a:chExt cx="5334000" cy="21383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34000" cy="2138299"/>
            </a:xfrm>
            <a:custGeom>
              <a:avLst/>
              <a:gdLst/>
              <a:ahLst/>
              <a:cxnLst/>
              <a:rect r="r" b="b" t="t" l="l"/>
              <a:pathLst>
                <a:path h="2138299" w="5334000">
                  <a:moveTo>
                    <a:pt x="0" y="172466"/>
                  </a:moveTo>
                  <a:cubicBezTo>
                    <a:pt x="0" y="77216"/>
                    <a:pt x="77216" y="0"/>
                    <a:pt x="172466" y="0"/>
                  </a:cubicBezTo>
                  <a:lnTo>
                    <a:pt x="5161534" y="0"/>
                  </a:lnTo>
                  <a:cubicBezTo>
                    <a:pt x="5256784" y="0"/>
                    <a:pt x="5334000" y="77216"/>
                    <a:pt x="5334000" y="172466"/>
                  </a:cubicBezTo>
                  <a:lnTo>
                    <a:pt x="5334000" y="1965833"/>
                  </a:lnTo>
                  <a:cubicBezTo>
                    <a:pt x="5334000" y="2061083"/>
                    <a:pt x="5256784" y="2138299"/>
                    <a:pt x="5161534" y="2138299"/>
                  </a:cubicBezTo>
                  <a:lnTo>
                    <a:pt x="172466" y="2138299"/>
                  </a:lnTo>
                  <a:cubicBezTo>
                    <a:pt x="77216" y="2138299"/>
                    <a:pt x="0" y="2061083"/>
                    <a:pt x="0" y="1965833"/>
                  </a:cubicBezTo>
                  <a:close/>
                </a:path>
              </a:pathLst>
            </a:custGeom>
            <a:solidFill>
              <a:srgbClr val="2A0F14"/>
            </a:solidFill>
            <a:ln w="9525" cap="sq">
              <a:solidFill>
                <a:srgbClr val="9B1C2C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334000" cy="218598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createCart</a:t>
              </a:r>
              <a:r>
                <a:rPr lang="en-US" sz="1800">
                  <a:solidFill>
                    <a:srgbClr val="F4F0EE"/>
                  </a:solidFill>
                  <a:latin typeface="Roboto"/>
                  <a:ea typeface="Roboto"/>
                  <a:cs typeface="Roboto"/>
                  <a:sym typeface="Roboto"/>
                </a:rPr>
                <a:t> idempotente, </a:t>
              </a:r>
              <a:r>
                <a:rPr lang="en-US" sz="1800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listCarts</a:t>
              </a:r>
              <a:r>
                <a:rPr lang="en-US" sz="1800">
                  <a:solidFill>
                    <a:srgbClr val="F4F0EE"/>
                  </a:solidFill>
                  <a:latin typeface="Roboto"/>
                  <a:ea typeface="Roboto"/>
                  <a:cs typeface="Roboto"/>
                  <a:sym typeface="Roboto"/>
                </a:rPr>
                <a:t>/</a:t>
              </a:r>
              <a:r>
                <a:rPr lang="en-US" sz="1800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deleteCart</a:t>
              </a:r>
              <a:r>
                <a:rPr lang="en-US" sz="1800">
                  <a:solidFill>
                    <a:srgbClr val="F4F0EE"/>
                  </a:solidFill>
                  <a:latin typeface="Roboto"/>
                  <a:ea typeface="Roboto"/>
                  <a:cs typeface="Roboto"/>
                  <a:sym typeface="Roboto"/>
                </a:rPr>
                <a:t>, cancelamento de pedido e pagamento com cartão novo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19200" y="9185967"/>
            <a:ext cx="1610325" cy="491433"/>
            <a:chOff x="0" y="0"/>
            <a:chExt cx="2147100" cy="6552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47189" cy="655320"/>
            </a:xfrm>
            <a:custGeom>
              <a:avLst/>
              <a:gdLst/>
              <a:ahLst/>
              <a:cxnLst/>
              <a:rect r="r" b="b" t="t" l="l"/>
              <a:pathLst>
                <a:path h="655320" w="214718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819529" y="0"/>
                  </a:lnTo>
                  <a:cubicBezTo>
                    <a:pt x="2000504" y="0"/>
                    <a:pt x="2147189" y="146685"/>
                    <a:pt x="2147189" y="327660"/>
                  </a:cubicBezTo>
                  <a:cubicBezTo>
                    <a:pt x="2147189" y="508635"/>
                    <a:pt x="2000504" y="655320"/>
                    <a:pt x="181952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1471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 Negócio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943825" y="9185967"/>
            <a:ext cx="1586065" cy="491433"/>
            <a:chOff x="0" y="0"/>
            <a:chExt cx="2114753" cy="6552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148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148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87144" y="0"/>
                  </a:lnTo>
                  <a:cubicBezTo>
                    <a:pt x="1968119" y="0"/>
                    <a:pt x="2114804" y="146685"/>
                    <a:pt x="2114804" y="327660"/>
                  </a:cubicBezTo>
                  <a:cubicBezTo>
                    <a:pt x="2114804" y="508635"/>
                    <a:pt x="1968119" y="655320"/>
                    <a:pt x="17871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21147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 Solução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644180" y="9185967"/>
            <a:ext cx="1562100" cy="491433"/>
            <a:chOff x="0" y="0"/>
            <a:chExt cx="2082800" cy="6552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82800" cy="655320"/>
            </a:xfrm>
            <a:custGeom>
              <a:avLst/>
              <a:gdLst/>
              <a:ahLst/>
              <a:cxnLst/>
              <a:rect r="r" b="b" t="t" l="l"/>
              <a:pathLst>
                <a:path h="655320" w="2082800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55140" y="0"/>
                  </a:lnTo>
                  <a:cubicBezTo>
                    <a:pt x="1936115" y="0"/>
                    <a:pt x="2082800" y="146685"/>
                    <a:pt x="2082800" y="327660"/>
                  </a:cubicBezTo>
                  <a:cubicBezTo>
                    <a:pt x="2082800" y="508635"/>
                    <a:pt x="1936115" y="655320"/>
                    <a:pt x="1755140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082800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 Técnico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320580" y="9185967"/>
            <a:ext cx="1685630" cy="491433"/>
            <a:chOff x="0" y="0"/>
            <a:chExt cx="2247506" cy="6552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47519" cy="655320"/>
            </a:xfrm>
            <a:custGeom>
              <a:avLst/>
              <a:gdLst/>
              <a:ahLst/>
              <a:cxnLst/>
              <a:rect r="r" b="b" t="t" l="l"/>
              <a:pathLst>
                <a:path h="655320" w="2247519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919859" y="0"/>
                  </a:lnTo>
                  <a:cubicBezTo>
                    <a:pt x="2100834" y="0"/>
                    <a:pt x="2247519" y="146685"/>
                    <a:pt x="2247519" y="327660"/>
                  </a:cubicBezTo>
                  <a:cubicBezTo>
                    <a:pt x="2247519" y="508635"/>
                    <a:pt x="2100834" y="655320"/>
                    <a:pt x="1919859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247506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 Interface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20510" y="9185967"/>
            <a:ext cx="1595590" cy="491433"/>
            <a:chOff x="0" y="0"/>
            <a:chExt cx="2127453" cy="6552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27504" cy="655320"/>
            </a:xfrm>
            <a:custGeom>
              <a:avLst/>
              <a:gdLst/>
              <a:ahLst/>
              <a:cxnLst/>
              <a:rect r="r" b="b" t="t" l="l"/>
              <a:pathLst>
                <a:path h="655320" w="2127504">
                  <a:moveTo>
                    <a:pt x="0" y="327660"/>
                  </a:moveTo>
                  <a:cubicBezTo>
                    <a:pt x="0" y="146685"/>
                    <a:pt x="146685" y="0"/>
                    <a:pt x="327660" y="0"/>
                  </a:cubicBezTo>
                  <a:lnTo>
                    <a:pt x="1799844" y="0"/>
                  </a:lnTo>
                  <a:cubicBezTo>
                    <a:pt x="1980819" y="0"/>
                    <a:pt x="2127504" y="146685"/>
                    <a:pt x="2127504" y="327660"/>
                  </a:cubicBezTo>
                  <a:cubicBezTo>
                    <a:pt x="2127504" y="508635"/>
                    <a:pt x="1980819" y="655320"/>
                    <a:pt x="1799844" y="655320"/>
                  </a:cubicBezTo>
                  <a:lnTo>
                    <a:pt x="327660" y="655320"/>
                  </a:lnTo>
                  <a:cubicBezTo>
                    <a:pt x="146685" y="655193"/>
                    <a:pt x="0" y="508508"/>
                    <a:pt x="0" y="327660"/>
                  </a:cubicBezTo>
                  <a:close/>
                </a:path>
              </a:pathLst>
            </a:custGeom>
            <a:solidFill>
              <a:srgbClr val="151517"/>
            </a:solidFill>
            <a:ln w="9525" cap="sq">
              <a:solidFill>
                <a:srgbClr val="2C2C3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127453" cy="702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8A8A9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05 Impacto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30400" y="9195492"/>
            <a:ext cx="2283028" cy="472383"/>
            <a:chOff x="0" y="0"/>
            <a:chExt cx="3044038" cy="6298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44063" cy="629920"/>
            </a:xfrm>
            <a:custGeom>
              <a:avLst/>
              <a:gdLst/>
              <a:ahLst/>
              <a:cxnLst/>
              <a:rect r="r" b="b" t="t" l="l"/>
              <a:pathLst>
                <a:path h="629920" w="3044063">
                  <a:moveTo>
                    <a:pt x="0" y="314960"/>
                  </a:moveTo>
                  <a:cubicBezTo>
                    <a:pt x="0" y="140970"/>
                    <a:pt x="140970" y="0"/>
                    <a:pt x="314960" y="0"/>
                  </a:cubicBezTo>
                  <a:lnTo>
                    <a:pt x="2729103" y="0"/>
                  </a:lnTo>
                  <a:cubicBezTo>
                    <a:pt x="2902966" y="0"/>
                    <a:pt x="3044063" y="140970"/>
                    <a:pt x="3044063" y="314960"/>
                  </a:cubicBezTo>
                  <a:cubicBezTo>
                    <a:pt x="3044063" y="488950"/>
                    <a:pt x="2903093" y="629920"/>
                    <a:pt x="2729103" y="629920"/>
                  </a:cubicBezTo>
                  <a:lnTo>
                    <a:pt x="314960" y="629920"/>
                  </a:lnTo>
                  <a:cubicBezTo>
                    <a:pt x="140970" y="629793"/>
                    <a:pt x="0" y="488823"/>
                    <a:pt x="0" y="314960"/>
                  </a:cubicBezTo>
                  <a:close/>
                </a:path>
              </a:pathLst>
            </a:custGeom>
            <a:solidFill>
              <a:srgbClr val="C8102E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3044038" cy="677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AF7F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06 Feedback MCP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08024" y="1028700"/>
            <a:ext cx="3471952" cy="865794"/>
            <a:chOff x="0" y="0"/>
            <a:chExt cx="2973781" cy="741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73832" cy="741680"/>
            </a:xfrm>
            <a:custGeom>
              <a:avLst/>
              <a:gdLst/>
              <a:ahLst/>
              <a:cxnLst/>
              <a:rect r="r" b="b" t="t" l="l"/>
              <a:pathLst>
                <a:path h="741680" w="2973832">
                  <a:moveTo>
                    <a:pt x="0" y="370840"/>
                  </a:moveTo>
                  <a:cubicBezTo>
                    <a:pt x="0" y="165989"/>
                    <a:pt x="165989" y="0"/>
                    <a:pt x="370840" y="0"/>
                  </a:cubicBezTo>
                  <a:lnTo>
                    <a:pt x="2602992" y="0"/>
                  </a:lnTo>
                  <a:cubicBezTo>
                    <a:pt x="2807716" y="0"/>
                    <a:pt x="2973832" y="165989"/>
                    <a:pt x="2973832" y="370840"/>
                  </a:cubicBezTo>
                  <a:cubicBezTo>
                    <a:pt x="2973832" y="575691"/>
                    <a:pt x="2807843" y="741680"/>
                    <a:pt x="2602992" y="741680"/>
                  </a:cubicBezTo>
                  <a:lnTo>
                    <a:pt x="370840" y="741680"/>
                  </a:lnTo>
                  <a:cubicBezTo>
                    <a:pt x="165989" y="741553"/>
                    <a:pt x="0" y="575564"/>
                    <a:pt x="0" y="370840"/>
                  </a:cubicBezTo>
                  <a:close/>
                </a:path>
              </a:pathLst>
            </a:custGeom>
            <a:solidFill>
              <a:srgbClr val="2A0F14"/>
            </a:solidFill>
            <a:ln w="9525" cap="sq">
              <a:solidFill>
                <a:srgbClr val="7A1A2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73781" cy="798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  <a:r>
                <a:rPr lang="en-US" sz="2349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Domingo</a:t>
              </a:r>
              <a:r>
                <a:rPr lang="en-US" sz="2349">
                  <a:solidFill>
                    <a:srgbClr val="FFB3BD"/>
                  </a:solidFill>
                  <a:latin typeface="Roboto"/>
                  <a:ea typeface="Roboto"/>
                  <a:cs typeface="Roboto"/>
                  <a:sym typeface="Roboto"/>
                </a:rPr>
                <a:t>, 16h05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69739" y="4532229"/>
            <a:ext cx="2761810" cy="276181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89238" y="4532229"/>
            <a:ext cx="2845026" cy="28450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4026" t="-45579" r="-19053" b="-3186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93649" y="4532229"/>
            <a:ext cx="2761810" cy="276181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500" t="0" r="-1250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14843" y="4532229"/>
            <a:ext cx="2845026" cy="284502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8244" t="-86366" r="-5812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224910" y="2590699"/>
            <a:ext cx="7838180" cy="120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4"/>
              </a:lnSpc>
            </a:pPr>
            <a:r>
              <a:rPr lang="en-US" sz="8699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Obrigado!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98379" y="8732520"/>
            <a:ext cx="8484248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6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A receita da Teresinha</a:t>
            </a:r>
          </a:p>
          <a:p>
            <a:pPr algn="ctr">
              <a:lnSpc>
                <a:spcPts val="4140"/>
              </a:lnSpc>
            </a:pPr>
            <a:r>
              <a:rPr lang="en-US" sz="3600" b="true">
                <a:solidFill>
                  <a:srgbClr val="F4F0EE"/>
                </a:solidFill>
                <a:latin typeface="Roboto Bold"/>
                <a:ea typeface="Roboto Bold"/>
                <a:cs typeface="Roboto Bold"/>
                <a:sym typeface="Roboto Bold"/>
              </a:rPr>
              <a:t>está a caminho!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43023" y="7497744"/>
            <a:ext cx="3815241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3300">
                <a:solidFill>
                  <a:srgbClr val="F4F0EE"/>
                </a:solidFill>
                <a:latin typeface="Roboto"/>
                <a:ea typeface="Roboto"/>
                <a:cs typeface="Roboto"/>
                <a:sym typeface="Roboto"/>
              </a:rPr>
              <a:t>Luysa Gonçalves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29736" y="7497744"/>
            <a:ext cx="3815241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3300">
                <a:solidFill>
                  <a:srgbClr val="F4F0EE"/>
                </a:solidFill>
                <a:latin typeface="Roboto"/>
                <a:ea typeface="Roboto"/>
                <a:cs typeface="Roboto"/>
                <a:sym typeface="Roboto"/>
              </a:rPr>
              <a:t>Vitor Veiga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05261" y="7497744"/>
            <a:ext cx="3815241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3300">
                <a:solidFill>
                  <a:srgbClr val="F4F0EE"/>
                </a:solidFill>
                <a:latin typeface="Roboto"/>
                <a:ea typeface="Roboto"/>
                <a:cs typeface="Roboto"/>
                <a:sym typeface="Roboto"/>
              </a:rPr>
              <a:t>Pedro Paffaro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67498" y="7497744"/>
            <a:ext cx="3815241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  <a:r>
              <a:rPr lang="en-US" sz="3300">
                <a:solidFill>
                  <a:srgbClr val="F4F0EE"/>
                </a:solidFill>
                <a:latin typeface="Roboto"/>
                <a:ea typeface="Roboto"/>
                <a:cs typeface="Roboto"/>
                <a:sym typeface="Roboto"/>
              </a:rPr>
              <a:t>Caroline Akimi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DAHYUbushX4</dc:identifier>
  <dcterms:modified xsi:type="dcterms:W3CDTF">2011-08-01T06:04:30Z</dcterms:modified>
  <cp:revision>1</cp:revision>
  <dc:title>Pitch — Da Receita ao Carrinho.pptx</dc:title>
</cp:coreProperties>
</file>